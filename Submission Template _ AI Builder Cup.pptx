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72" r:id="rId28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18"/>
      <p:bold r:id="rId19"/>
      <p:italic r:id="rId20"/>
      <p:boldItalic r:id="rId21"/>
    </p:embeddedFont>
    <p:embeddedFont>
      <p:font typeface="Segoe UI Semibold" panose="020B0702040204020203" pitchFamily="34" charset="0"/>
      <p:bold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Keyword baseline</c:v>
                </c:pt>
              </c:strCache>
            </c:strRef>
          </c:tx>
          <c:spPr>
            <a:solidFill>
              <a:srgbClr val="6F84AE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F8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</c:v>
                </c:pt>
                <c:pt idx="1">
                  <c:v>Precision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68.599999999999994</c:v>
                </c:pt>
                <c:pt idx="1">
                  <c:v>92.3</c:v>
                </c:pt>
                <c:pt idx="2">
                  <c:v>78.7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59C1-4CC7-AE73-89B6E048A9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Gemini Flash classifier</c:v>
                </c:pt>
              </c:strCache>
            </c:strRef>
          </c:tx>
          <c:spPr>
            <a:solidFill>
              <a:srgbClr val="38BDF8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F8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</c:v>
                </c:pt>
                <c:pt idx="1">
                  <c:v>Precision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86.6</c:v>
                </c:pt>
                <c:pt idx="1">
                  <c:v>96.5</c:v>
                </c:pt>
                <c:pt idx="2">
                  <c:v>91.3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59C1-4CC7-AE73-89B6E048A9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1D3566"/>
            </a:solidFill>
          </a:ln>
        </c:spPr>
        <c:txPr>
          <a:bodyPr/>
          <a:lstStyle/>
          <a:p>
            <a:pPr>
              <a:defRPr sz="1000">
                <a:solidFill>
                  <a:srgbClr val="F5F8FF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9DB0D4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9DB0D4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9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5" name="Google Shape;55;p13" title="Frame 14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5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2395728"/>
            <a:ext cx="3200400" cy="32004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57200" y="2852928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5F8FF"/>
                </a:solidFill>
                <a:latin typeface="Segoe UI Semibold"/>
              </a:rPr>
              <a:t>Stall</a:t>
            </a:r>
            <a:r>
              <a:rPr sz="3800" b="1" i="0">
                <a:solidFill>
                  <a:srgbClr val="5AA9FF"/>
                </a:solidFill>
                <a:latin typeface="Segoe UI Semibold"/>
              </a:rPr>
              <a:t>wart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529584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DB0D4"/>
                </a:solidFill>
                <a:latin typeface="Segoe UI"/>
              </a:rPr>
              <a:t>The AI decoy that keeps scammers talking, catches the payee, and turns every scam into protection for the next family.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315968"/>
            <a:ext cx="1246327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85216" y="4361688"/>
            <a:ext cx="1063447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" y="4507992"/>
            <a:ext cx="106344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Null &amp; Void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94967" y="4315968"/>
            <a:ext cx="1853488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922983" y="4361688"/>
            <a:ext cx="167060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LEADER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22983" y="4507992"/>
            <a:ext cx="1670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Mohammed Owais Khan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739896" y="4315968"/>
            <a:ext cx="1322222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867911" y="4361688"/>
            <a:ext cx="113934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MEMBER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67911" y="4507992"/>
            <a:ext cx="113934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Kshiraj Nair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846320"/>
            <a:ext cx="5852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F84AE"/>
                </a:solidFill>
                <a:latin typeface="Segoe UI"/>
              </a:rPr>
              <a:t>Theme: BFSI · Intelligent Risk, Fraud and Financial Experiences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7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BRIEF ABOUT THE IDEA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Catch the scam. Then turn it into the vaccine.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1371600"/>
            <a:ext cx="2651760" cy="914400"/>
          </a:xfrm>
          <a:prstGeom prst="roundRect">
            <a:avLst>
              <a:gd name="adj" fmla="val 14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B82F6">
                <a:alpha val="2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1444752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 dirty="0">
                <a:solidFill>
                  <a:srgbClr val="38BDF8"/>
                </a:solidFill>
                <a:latin typeface="Segoe UI Semibold"/>
              </a:rPr>
              <a:t>₹22,495 </a:t>
            </a:r>
            <a:r>
              <a:rPr sz="2900" b="1" i="0" dirty="0" err="1">
                <a:solidFill>
                  <a:srgbClr val="38BDF8"/>
                </a:solidFill>
                <a:latin typeface="Segoe UI Semibold"/>
              </a:rPr>
              <a:t>cr</a:t>
            </a:r>
            <a:endParaRPr sz="2900" b="1" i="0" dirty="0">
              <a:solidFill>
                <a:srgbClr val="38BDF8"/>
              </a:solidFill>
              <a:latin typeface="Segoe UI Semibold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566928" y="193852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lost to cyber fraud in India in 2025 (NCRP data)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91840" y="1389888"/>
            <a:ext cx="5440680" cy="759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 dirty="0">
                <a:solidFill>
                  <a:srgbClr val="F5F8FF"/>
                </a:solidFill>
                <a:latin typeface="Segoe UI Semibold"/>
              </a:rPr>
              <a:t>Digital-arrest, KYC and courier scams all end the same way: the victim pays a mule account.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dirty="0" err="1">
                <a:solidFill>
                  <a:srgbClr val="9DB0D4"/>
                </a:solidFill>
                <a:latin typeface="Segoe UI"/>
              </a:rPr>
              <a:t>Stallwart</a:t>
            </a:r>
            <a:r>
              <a:rPr sz="1050" b="1" i="0" dirty="0">
                <a:solidFill>
                  <a:srgbClr val="9DB0D4"/>
                </a:solidFill>
                <a:latin typeface="Segoe UI"/>
              </a:rPr>
              <a:t> answers those calls in English, Hindi and Hinglish, wastes the scammer's time and catches the UPI ID or bank account they want paid.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26664" y="3300984"/>
            <a:ext cx="20116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 dirty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88736" y="3300984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11480" y="4681728"/>
            <a:ext cx="8321040" cy="274320"/>
          </a:xfrm>
          <a:prstGeom prst="roundRect">
            <a:avLst>
              <a:gd name="adj" fmla="val 50000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48640" y="4681728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8BDF8"/>
                </a:solidFill>
                <a:latin typeface="Segoe UI Semibold"/>
              </a:rPr>
              <a:t>Why now  </a:t>
            </a:r>
            <a:r>
              <a:rPr sz="900" b="0" i="0">
                <a:solidFill>
                  <a:srgbClr val="F5F8FF"/>
                </a:solidFill>
                <a:latin typeface="Segoe UI"/>
              </a:rPr>
              <a:t>The RBI's draft mule-account SOP means banks will need evidence leads. Ours are leads, never verdicts.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38BDF8"/>
            </a:solidFill>
          </a:ln>
          <a:effectLst>
            <a:glow rad="101600">
              <a:srgbClr val="38BDF8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40080" y="2542032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0080" y="2816351"/>
            <a:ext cx="402336" cy="40233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61288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Trap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Ramesh, a worried 68-year-old, keeps the scammer talking and repeating every number.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273552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8B7CFF"/>
            </a:solidFill>
          </a:ln>
          <a:effectLst>
            <a:glow rad="101600">
              <a:srgbClr val="8B7CFF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502152" y="2542032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502152" y="2816351"/>
            <a:ext cx="402336" cy="40233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02152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0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Strain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02152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The call becomes a redacted card: the script, the payment method, three warning signs.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35624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37E0A0"/>
            </a:solidFill>
          </a:ln>
          <a:effectLst>
            <a:glow rad="101600">
              <a:srgbClr val="37E0A0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364224" y="2542032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364224" y="2816351"/>
            <a:ext cx="402336" cy="40233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64224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85432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Vaccine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64224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That script becomes a consented practice call for a parent, stopped before any detail leaks.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7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6" name="Google Shape;76;p16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OPPORTUNITIES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Decoys exist. Protection for the next family does not.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9436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9436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8BDF8"/>
                </a:solidFill>
                <a:latin typeface="Segoe UI Semibold"/>
              </a:rPr>
              <a:t>DIFFERENT FROM WHAT EXISTS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Built for India's scripts</a:t>
            </a:r>
          </a:p>
        </p:txBody>
      </p:sp>
      <p:sp>
        <p:nvSpPr>
          <p:cNvPr id="86" name="Oval 85"/>
          <p:cNvSpPr/>
          <p:nvPr/>
        </p:nvSpPr>
        <p:spPr>
          <a:xfrm>
            <a:off x="594360" y="2350008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5895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Hindi and Hinglish first</a:t>
            </a:r>
          </a:p>
        </p:txBody>
      </p:sp>
      <p:sp>
        <p:nvSpPr>
          <p:cNvPr id="88" name="Oval 87"/>
          <p:cNvSpPr/>
          <p:nvPr/>
        </p:nvSpPr>
        <p:spPr>
          <a:xfrm>
            <a:off x="594360" y="2779775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5895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Digital arrest, KYC, courier, SIM block</a:t>
            </a:r>
          </a:p>
        </p:txBody>
      </p:sp>
      <p:sp>
        <p:nvSpPr>
          <p:cNvPr id="90" name="Oval 89"/>
          <p:cNvSpPr/>
          <p:nvPr/>
        </p:nvSpPr>
        <p:spPr>
          <a:xfrm>
            <a:off x="594360" y="3209543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5895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Payee read back and confirmed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" y="358444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1">
                <a:solidFill>
                  <a:srgbClr val="6F84AE"/>
                </a:solidFill>
                <a:latin typeface="Segoe UI"/>
              </a:rPr>
              <a:t>Voice decoys exist (Apate.ai). We do not claim to have invented them.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2326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340614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40614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7E0A0"/>
                </a:solidFill>
                <a:latin typeface="Segoe UI Semibold"/>
              </a:rPr>
              <a:t>HOW IT SOLVES THE PROBLEM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0614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Time wasted, payee caught</a:t>
            </a:r>
          </a:p>
        </p:txBody>
      </p:sp>
      <p:sp>
        <p:nvSpPr>
          <p:cNvPr id="97" name="Oval 96"/>
          <p:cNvSpPr/>
          <p:nvPr/>
        </p:nvSpPr>
        <p:spPr>
          <a:xfrm>
            <a:off x="3406140" y="2350008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357073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Every minute on Ramesh is a minute not spent on a victim</a:t>
            </a:r>
          </a:p>
        </p:txBody>
      </p:sp>
      <p:sp>
        <p:nvSpPr>
          <p:cNvPr id="99" name="Oval 98"/>
          <p:cNvSpPr/>
          <p:nvPr/>
        </p:nvSpPr>
        <p:spPr>
          <a:xfrm>
            <a:off x="3406140" y="2779775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357073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UPI ID or account caught and sent to that bank</a:t>
            </a:r>
          </a:p>
        </p:txBody>
      </p:sp>
      <p:sp>
        <p:nvSpPr>
          <p:cNvPr id="101" name="Oval 100"/>
          <p:cNvSpPr/>
          <p:nvPr/>
        </p:nvSpPr>
        <p:spPr>
          <a:xfrm>
            <a:off x="3406140" y="3209543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57073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Each script becomes a strain and a drill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3504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21792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21792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8B7CFF"/>
                </a:solidFill>
                <a:latin typeface="Segoe UI Semibold"/>
              </a:rPr>
              <a:t>OUR USP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1792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Trap, Strain, Vaccine</a:t>
            </a:r>
          </a:p>
        </p:txBody>
      </p:sp>
      <p:sp>
        <p:nvSpPr>
          <p:cNvPr id="107" name="Oval 106"/>
          <p:cNvSpPr/>
          <p:nvPr/>
        </p:nvSpPr>
        <p:spPr>
          <a:xfrm>
            <a:off x="6217920" y="2350008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8251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Every scam protects the next family</a:t>
            </a:r>
          </a:p>
        </p:txBody>
      </p:sp>
      <p:sp>
        <p:nvSpPr>
          <p:cNvPr id="109" name="Oval 108"/>
          <p:cNvSpPr/>
          <p:nvPr/>
        </p:nvSpPr>
        <p:spPr>
          <a:xfrm>
            <a:off x="6217920" y="2779775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38251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Two checks before anything is confirmed</a:t>
            </a:r>
          </a:p>
        </p:txBody>
      </p:sp>
      <p:sp>
        <p:nvSpPr>
          <p:cNvPr id="111" name="Oval 110"/>
          <p:cNvSpPr/>
          <p:nvPr/>
        </p:nvSpPr>
        <p:spPr>
          <a:xfrm>
            <a:off x="6217920" y="3209543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8251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A fresh persona on every call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1480" y="4114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FBBF24"/>
                </a:solidFill>
                <a:latin typeface="Segoe UI Semibold"/>
              </a:rPr>
              <a:t>WHO BUYS IT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4370832"/>
            <a:ext cx="1533265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11480" y="4370832"/>
            <a:ext cx="153326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Bank fraud teams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54473" y="4370832"/>
            <a:ext cx="1898111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2054473" y="4370832"/>
            <a:ext cx="189811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UPI apps and fintechs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062313" y="4370832"/>
            <a:ext cx="803574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062313" y="4370832"/>
            <a:ext cx="80357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Telcos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75616" y="4370832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975616" y="4370832"/>
            <a:ext cx="21899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I4C and state cyber cells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8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4" name="Google Shape;84;p17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LIST OF FEATURES OFFERED BY THE SOLUTION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Everything the loop needs, in one product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11480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411480" y="1554480"/>
            <a:ext cx="45720" cy="4572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576072" y="1554480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76072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voice decoy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6072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Gemini Live native audio, barge-in, a fresh persona every call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523744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B82F6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2523744" y="155448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2688336" y="1554480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76200">
              <a:srgbClr val="3B82F6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688336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88336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English live transcript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88336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Hindi and Hinglish translated on the fly for every viewer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636008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4636008" y="1554480"/>
            <a:ext cx="45720" cy="45720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4800600" y="1554480"/>
            <a:ext cx="310896" cy="31089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800600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Two-layer extraction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00600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Live tool calls plus a Flash verifier. Validators decide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748272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748272" y="1554480"/>
            <a:ext cx="45720" cy="45720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6912864" y="1554480"/>
            <a:ext cx="310896" cy="31089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912864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12864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dashboard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12864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Scam type, trigger phrases, script stage, reply speed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11480" y="3255264"/>
            <a:ext cx="45720" cy="4572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76072" y="3255264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762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76072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76072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Evidence and banks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76072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Recording, transcript and confirmed payees, sent on to the right bank.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523744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7185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2523744" y="3255264"/>
            <a:ext cx="4572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688336" y="3255264"/>
            <a:ext cx="310896" cy="310896"/>
          </a:xfrm>
          <a:prstGeom prst="ellipse">
            <a:avLst/>
          </a:prstGeom>
          <a:solidFill>
            <a:srgbClr val="FB7185"/>
          </a:solidFill>
          <a:ln>
            <a:noFill/>
          </a:ln>
          <a:effectLst>
            <a:glow rad="76200">
              <a:srgbClr val="FB7185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2688336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688336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Strain cards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88336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Redacted script, payment method, three warning signs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36008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4636008" y="3255264"/>
            <a:ext cx="45720" cy="45720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4800600" y="3255264"/>
            <a:ext cx="310896" cy="31089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800600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Family drills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00600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 consented practice call from that day's real script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48272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6748272" y="3255264"/>
            <a:ext cx="45720" cy="4572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6912864" y="3255264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912864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12864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Guardrails and replays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12864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Cost caps, kill switch, two-minute replays with no mic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9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2" name="Google Shape;92;p18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PROCESS FLOW DIAGRAM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From the first ring to a protected parent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141732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TRAP · ONE SCAM CALL</a:t>
            </a:r>
          </a:p>
        </p:txBody>
      </p:sp>
      <p:sp>
        <p:nvSpPr>
          <p:cNvPr id="99" name="Oval 98"/>
          <p:cNvSpPr/>
          <p:nvPr/>
        </p:nvSpPr>
        <p:spPr>
          <a:xfrm>
            <a:off x="66751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6751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603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Scammer calls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21615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213055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13055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71907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Ramesh answers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(Gemini Live)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267919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359359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59359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8211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Live model calls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record_detail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14223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05663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505663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4515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Flash verifier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re-reads the call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60527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651967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51967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0819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Validators accept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or reject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06831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82712" y="1828800"/>
            <a:ext cx="493776" cy="49377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101600">
              <a:srgbClr val="37E0A0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98271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71231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Detail is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confirmed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1480" y="315468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8B7CFF"/>
                </a:solidFill>
                <a:latin typeface="Segoe UI Semibold"/>
              </a:rPr>
              <a:t>STRAIN → VACCINE · THE SAME CALL PROTECTS THE NEXT FAMILY</a:t>
            </a:r>
          </a:p>
        </p:txBody>
      </p:sp>
      <p:sp>
        <p:nvSpPr>
          <p:cNvPr id="123" name="Oval 122"/>
          <p:cNvSpPr/>
          <p:nvPr/>
        </p:nvSpPr>
        <p:spPr>
          <a:xfrm>
            <a:off x="66751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6751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603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Call ends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21615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Oval 126"/>
          <p:cNvSpPr/>
          <p:nvPr/>
        </p:nvSpPr>
        <p:spPr>
          <a:xfrm>
            <a:off x="213055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13055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1907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Evidence saved, bank alerted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67919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Oval 130"/>
          <p:cNvSpPr/>
          <p:nvPr/>
        </p:nvSpPr>
        <p:spPr>
          <a:xfrm>
            <a:off x="359359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59359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18211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Strain card built,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redacted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414223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/>
          <p:cNvSpPr/>
          <p:nvPr/>
        </p:nvSpPr>
        <p:spPr>
          <a:xfrm>
            <a:off x="505663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05663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4515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Family drill,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parent consents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60527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651967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51967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0819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Parent takes the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practice call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706831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7982712" y="3566160"/>
            <a:ext cx="493776" cy="49377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101600">
              <a:srgbClr val="37E0A0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98271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571231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Coach stops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and debriefs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743200" y="2807208"/>
            <a:ext cx="3242828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2743200" y="2807208"/>
            <a:ext cx="32428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▼  the finished call feeds the next two stages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11480" y="4526280"/>
            <a:ext cx="3518976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411480" y="4526280"/>
            <a:ext cx="35189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Two independent checks before anything is confirmed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040184" y="4526280"/>
            <a:ext cx="2455712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040184" y="4526280"/>
            <a:ext cx="245571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No identifier survives in a strain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605625" y="4526280"/>
            <a:ext cx="2205532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605625" y="4526280"/>
            <a:ext cx="22055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A parent always consents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0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0" name="Google Shape;100;p19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WIREFRAMES / MOCK-UPS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Three screens tell the whole story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1243584"/>
            <a:ext cx="8321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DB0D4"/>
                </a:solidFill>
                <a:latin typeface="Segoe UI"/>
              </a:rPr>
              <a:t>Real screens from the live prototype. All names, numbers and IDs are fictional.</a:t>
            </a:r>
          </a:p>
        </p:txBody>
      </p:sp>
      <p:pic>
        <p:nvPicPr>
          <p:cNvPr id="107" name="Picture 106" descr="image.jpg"/>
          <p:cNvPicPr>
            <a:picLocks noChangeAspect="1"/>
          </p:cNvPicPr>
          <p:nvPr/>
        </p:nvPicPr>
        <p:blipFill>
          <a:blip r:embed="rId6"/>
          <a:srcRect b="459"/>
          <a:stretch>
            <a:fillRect/>
          </a:stretch>
        </p:blipFill>
        <p:spPr>
          <a:xfrm>
            <a:off x="548640" y="1627632"/>
            <a:ext cx="4206240" cy="2377440"/>
          </a:xfrm>
          <a:prstGeom prst="roundRect">
            <a:avLst>
              <a:gd name="adj" fmla="val 3846"/>
            </a:avLst>
          </a:prstGeom>
          <a:ln w="12700">
            <a:solidFill>
              <a:srgbClr val="38BDF8"/>
            </a:solidFill>
          </a:ln>
          <a:effectLst>
            <a:glow rad="152400">
              <a:srgbClr val="38BDF8">
                <a:alpha val="35000"/>
              </a:srgbClr>
            </a:glow>
          </a:effectLst>
        </p:spPr>
      </p:pic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rcRect b="15527"/>
          <a:stretch>
            <a:fillRect/>
          </a:stretch>
        </p:blipFill>
        <p:spPr>
          <a:xfrm>
            <a:off x="5074920" y="1627632"/>
            <a:ext cx="1600200" cy="2377440"/>
          </a:xfrm>
          <a:prstGeom prst="roundRect">
            <a:avLst>
              <a:gd name="adj" fmla="val 5714"/>
            </a:avLst>
          </a:prstGeom>
          <a:ln w="12700">
            <a:solidFill>
              <a:srgbClr val="8B7CFF"/>
            </a:solidFill>
          </a:ln>
          <a:effectLst>
            <a:glow rad="152400">
              <a:srgbClr val="8B7CFF">
                <a:alpha val="35000"/>
              </a:srgbClr>
            </a:glow>
          </a:effectLst>
        </p:spPr>
      </p:pic>
      <p:sp>
        <p:nvSpPr>
          <p:cNvPr id="110" name="Oval 109"/>
          <p:cNvSpPr/>
          <p:nvPr/>
        </p:nvSpPr>
        <p:spPr>
          <a:xfrm>
            <a:off x="548640" y="4160520"/>
            <a:ext cx="256032" cy="256032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4864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" y="4160520"/>
            <a:ext cx="386791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dashboard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448056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Scam type, trigger phrases, script stage and details that move from heard to confirmed.</a:t>
            </a:r>
          </a:p>
        </p:txBody>
      </p:sp>
      <p:sp>
        <p:nvSpPr>
          <p:cNvPr id="114" name="Oval 113"/>
          <p:cNvSpPr/>
          <p:nvPr/>
        </p:nvSpPr>
        <p:spPr>
          <a:xfrm>
            <a:off x="5074920" y="4160520"/>
            <a:ext cx="256032" cy="256032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07492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416052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Strain card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74920" y="44805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The script with every identifier removed.</a:t>
            </a:r>
          </a:p>
        </p:txBody>
      </p:sp>
      <p:sp>
        <p:nvSpPr>
          <p:cNvPr id="118" name="Oval 117"/>
          <p:cNvSpPr/>
          <p:nvPr/>
        </p:nvSpPr>
        <p:spPr>
          <a:xfrm>
            <a:off x="6995160" y="4160520"/>
            <a:ext cx="256032" cy="256032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99516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33488" y="416052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Parent's invitation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995160" y="44805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One tap to a consented practice call.</a:t>
            </a:r>
          </a:p>
        </p:txBody>
      </p:sp>
      <p:pic>
        <p:nvPicPr>
          <p:cNvPr id="122" name="Picture 121" descr="join-c-rohan.jpg"/>
          <p:cNvPicPr>
            <a:picLocks noChangeAspect="1"/>
          </p:cNvPicPr>
          <p:nvPr/>
        </p:nvPicPr>
        <p:blipFill>
          <a:blip r:embed="rId9"/>
          <a:srcRect l="1479" r="1479"/>
          <a:stretch>
            <a:fillRect/>
          </a:stretch>
        </p:blipFill>
        <p:spPr>
          <a:xfrm>
            <a:off x="6995160" y="1627632"/>
            <a:ext cx="1691640" cy="2377440"/>
          </a:xfrm>
          <a:prstGeom prst="roundRect">
            <a:avLst>
              <a:gd name="adj" fmla="val 5405"/>
            </a:avLst>
          </a:prstGeom>
          <a:ln w="12700">
            <a:solidFill>
              <a:srgbClr val="37E0A0"/>
            </a:solidFill>
          </a:ln>
          <a:effectLst>
            <a:glow rad="152400">
              <a:srgbClr val="37E0A0">
                <a:alpha val="35000"/>
              </a:srgbClr>
            </a:glo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11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8" name="Google Shape;108;p20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ARCHITECTURE DIAGRAM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How it works, all on Google Cloud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1371600"/>
            <a:ext cx="2103120" cy="2788920"/>
          </a:xfrm>
          <a:prstGeom prst="roundRect">
            <a:avLst>
              <a:gd name="adj" fmla="val 6086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576072" y="1371600"/>
            <a:ext cx="548640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76072" y="1481328"/>
            <a:ext cx="182879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Browser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2" y="1709928"/>
            <a:ext cx="182879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8BDF8"/>
                </a:solidFill>
                <a:latin typeface="Segoe UI"/>
              </a:rPr>
              <a:t>What you see and use (Firebase)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" y="199339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40080" y="199339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Your mic and speaker: you talk, Ramesh answers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263347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40080" y="263347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A live screen with the transcript and caught details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48640" y="327355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40080" y="327355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Replay and family-drill pages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46120" y="1371600"/>
            <a:ext cx="2286000" cy="2788920"/>
          </a:xfrm>
          <a:prstGeom prst="roundRect">
            <a:avLst>
              <a:gd name="adj" fmla="val 56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B82F6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3410712" y="1371600"/>
            <a:ext cx="548640" cy="411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410712" y="148132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Cloud Run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10712" y="1709928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B82F6"/>
                </a:solidFill>
                <a:latin typeface="Segoe UI"/>
              </a:rPr>
              <a:t>The server that runs the call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383280" y="193852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3474720" y="193852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Keeps the live call connected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383280" y="248716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248716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Listens for UPI IDs and account numbers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383280" y="303580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0" y="303580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Checks each detail before it counts as confirmed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383280" y="358444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474720" y="358444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Saves calls, scam cards, drills and bank alerts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1371600"/>
            <a:ext cx="2468880" cy="1691640"/>
          </a:xfrm>
          <a:prstGeom prst="roundRect">
            <a:avLst>
              <a:gd name="adj" fmla="val 7567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428231" y="1371600"/>
            <a:ext cx="548640" cy="41148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428231" y="148132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Vertex AI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28231" y="170992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8B7CFF"/>
                </a:solidFill>
                <a:latin typeface="Segoe UI"/>
              </a:rPr>
              <a:t>Google's Gemini AI models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00800" y="1920240"/>
            <a:ext cx="2194560" cy="329184"/>
          </a:xfrm>
          <a:prstGeom prst="roundRect">
            <a:avLst>
              <a:gd name="adj" fmla="val 19444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492240" y="1920240"/>
            <a:ext cx="202996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Live: Ramesh's voice and hearing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400800" y="2286000"/>
            <a:ext cx="2194560" cy="365760"/>
          </a:xfrm>
          <a:prstGeom prst="roundRect">
            <a:avLst>
              <a:gd name="adj" fmla="val 17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492240" y="2286000"/>
            <a:ext cx="20299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Flash: double-checks, spots the scam type, translates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400800" y="2651760"/>
            <a:ext cx="2194560" cy="329184"/>
          </a:xfrm>
          <a:prstGeom prst="roundRect">
            <a:avLst>
              <a:gd name="adj" fmla="val 19444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492240" y="2651760"/>
            <a:ext cx="202996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TTS: the scammer's voice in the replay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63640" y="3200400"/>
            <a:ext cx="2468880" cy="960120"/>
          </a:xfrm>
          <a:prstGeom prst="roundRect">
            <a:avLst>
              <a:gd name="adj" fmla="val 13333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6428231" y="3200400"/>
            <a:ext cx="548640" cy="411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428231" y="331012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Data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428231" y="353872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7E0A0"/>
                </a:solidFill>
                <a:latin typeface="Segoe UI"/>
              </a:rPr>
              <a:t>private by default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00800" y="3675887"/>
            <a:ext cx="1097280" cy="384048"/>
          </a:xfrm>
          <a:prstGeom prst="roundRect">
            <a:avLst>
              <a:gd name="adj" fmla="val 16666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7E0A0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492240" y="3675887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Call records (Firestore)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543800" y="3675887"/>
            <a:ext cx="1051560" cy="384048"/>
          </a:xfrm>
          <a:prstGeom prst="roundRect">
            <a:avLst>
              <a:gd name="adj" fmla="val 16666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7E0A0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7635240" y="3675887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Recordings, deleted in 14 days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514600" y="2651760"/>
            <a:ext cx="731520" cy="0"/>
          </a:xfrm>
          <a:prstGeom prst="line">
            <a:avLst/>
          </a:prstGeom>
          <a:ln w="22225">
            <a:solidFill>
              <a:srgbClr val="38BD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514600" y="2926080"/>
            <a:ext cx="731520" cy="0"/>
          </a:xfrm>
          <a:prstGeom prst="line">
            <a:avLst/>
          </a:prstGeom>
          <a:ln w="22225">
            <a:solidFill>
              <a:srgbClr val="38BD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2514600" y="2286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voice + text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532120" y="2286000"/>
            <a:ext cx="731520" cy="0"/>
          </a:xfrm>
          <a:prstGeom prst="line">
            <a:avLst/>
          </a:prstGeom>
          <a:ln w="22225">
            <a:solidFill>
              <a:srgbClr val="8B7C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5532120" y="2560320"/>
            <a:ext cx="731520" cy="0"/>
          </a:xfrm>
          <a:prstGeom prst="line">
            <a:avLst/>
          </a:prstGeom>
          <a:ln w="22225">
            <a:solidFill>
              <a:srgbClr val="8B7C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532120" y="1920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asks the AI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532120" y="3794760"/>
            <a:ext cx="731520" cy="0"/>
          </a:xfrm>
          <a:prstGeom prst="line">
            <a:avLst/>
          </a:prstGeom>
          <a:ln w="22225">
            <a:solidFill>
              <a:srgbClr val="37E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411480" y="431596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FBBF24"/>
                </a:solidFill>
                <a:latin typeface="Segoe UI Semibold"/>
              </a:rPr>
              <a:t>GUARDRAILS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11480" y="4553712"/>
            <a:ext cx="1043147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11480" y="4553712"/>
            <a:ext cx="104314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Per-IP limit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546067" y="4553712"/>
            <a:ext cx="98060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546067" y="4553712"/>
            <a:ext cx="98060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Session cap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18110" y="4553712"/>
            <a:ext cx="1168237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18110" y="4553712"/>
            <a:ext cx="116823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300 s call cap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77787" y="4553712"/>
            <a:ext cx="123078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3877787" y="4553712"/>
            <a:ext cx="123078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Max 3 instances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200009" y="4553712"/>
            <a:ext cx="98060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200009" y="4553712"/>
            <a:ext cx="98060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Kill switch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6" name="Google Shape;116;p21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TECHNOLOGIES USED IN THE SOLUTION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A Google-first stack, tested end to end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1148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59436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59436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38BDF8"/>
                </a:solidFill>
                <a:latin typeface="Segoe UI Semibold"/>
              </a:rPr>
              <a:t>GOOGLE CLOUD AND AI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4360" y="1901952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594360" y="1901952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Live API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4360" y="2267712"/>
            <a:ext cx="1048268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94360" y="2267712"/>
            <a:ext cx="10482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Flash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734068" y="226771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734068" y="226771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TTS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94360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94360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Vertex AI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536009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536009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Run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2999232"/>
            <a:ext cx="1312346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94360" y="2999232"/>
            <a:ext cx="131234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Firebase Hosting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94360" y="336499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594360" y="336499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Firestore (TTL)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4360" y="3730751"/>
            <a:ext cx="111428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94360" y="3730751"/>
            <a:ext cx="111428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Storage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00087" y="3730751"/>
            <a:ext cx="111428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800087" y="3730751"/>
            <a:ext cx="111428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Logging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409651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594360" y="409651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Billing budgets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2326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340614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40614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8B7CFF"/>
                </a:solidFill>
                <a:latin typeface="Segoe UI Semibold"/>
              </a:rPr>
              <a:t>APPLICATION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406140" y="1901952"/>
            <a:ext cx="652150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406140" y="1901952"/>
            <a:ext cx="65215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Python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149730" y="1901952"/>
            <a:ext cx="71816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149730" y="1901952"/>
            <a:ext cx="71816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FastAPI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406140" y="226771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06140" y="226771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WebSockets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13808" y="2267712"/>
            <a:ext cx="78418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413808" y="2267712"/>
            <a:ext cx="78418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Pydantic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406140" y="263347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3406140" y="263347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ES modules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413808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4413808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 Audio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406140" y="2999232"/>
            <a:ext cx="104826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3406140" y="2999232"/>
            <a:ext cx="10482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AudioWorklet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45848" y="299923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545848" y="299923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WebGL2 orb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406140" y="3364991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3406140" y="3364991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Strict CSP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03504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621792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21792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37E0A0"/>
                </a:solidFill>
                <a:latin typeface="Segoe UI Semibold"/>
              </a:rPr>
              <a:t>QUALITY AND SAFETY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17920" y="1901952"/>
            <a:ext cx="1840504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6217920" y="1901952"/>
            <a:ext cx="18405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Deterministic validators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217920" y="2267712"/>
            <a:ext cx="151040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217920" y="2267712"/>
            <a:ext cx="151040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114 automated tests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217920" y="2633472"/>
            <a:ext cx="1444386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0" y="2633472"/>
            <a:ext cx="14443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42-prompt red-team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2999232"/>
            <a:ext cx="1444386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217920" y="2999232"/>
            <a:ext cx="14443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ICFD-31k benchmark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217920" y="3364991"/>
            <a:ext cx="164244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6217920" y="3364991"/>
            <a:ext cx="164244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Decoy variety metrics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217920" y="3730751"/>
            <a:ext cx="157642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217920" y="3730751"/>
            <a:ext cx="15764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Consent-first drills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6217920" y="409651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6217920" y="409651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14-day deletion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11480" y="4526280"/>
            <a:ext cx="8321040" cy="365760"/>
          </a:xfrm>
          <a:prstGeom prst="roundRect">
            <a:avLst>
              <a:gd name="adj" fmla="val 50000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8BDF8"/>
                </a:solidFill>
                <a:latin typeface="Segoe UI Semibold"/>
              </a:rPr>
              <a:t>Google AI only inside the product. </a:t>
            </a:r>
            <a:r>
              <a:rPr sz="1000" b="0" i="0">
                <a:solidFill>
                  <a:srgbClr val="F5F8FF"/>
                </a:solidFill>
                <a:latin typeface="Segoe UI"/>
              </a:rPr>
              <a:t>No non-Google model runs in Stallwart.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2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4" name="Google Shape;124;p22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ESTIMATED IMPLEMENTATION COST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Cents per call, not dollars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8BDF8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64008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08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38BDF8"/>
                </a:solidFill>
                <a:latin typeface="Segoe UI Semibold"/>
              </a:rPr>
              <a:t>$0.01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008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per two-minute voice call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Measured $0.006 to $0.010 in model tokens, plus a few fractions-of-a-cent Flash requests.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326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8B7CFF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345186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45186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8B7CFF"/>
                </a:solidFill>
                <a:latin typeface="Segoe UI Semibold"/>
              </a:rPr>
              <a:t>$100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5186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per 10,000 calls a month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5186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Model cost at two minutes each. Cloud Run scales to zero when idle.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03504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7E0A0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6364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626364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37E0A0"/>
                </a:solidFill>
                <a:latin typeface="Segoe UI Semibold"/>
              </a:rPr>
              <a:t>$0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6364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to run the prototype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6364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It runs on the free trial credit. Billing is never upgraded.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1148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94360" y="4069080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9552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Recordings auto-delete after 14 days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2326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3406140" y="4069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60730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Budget alerts and a one-click kill switch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3504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217920" y="4069080"/>
            <a:ext cx="91440" cy="91440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41908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Per-IP limits and a 300 s call cap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F84AE"/>
                </a:solidFill>
                <a:latin typeface="Segoe UI"/>
              </a:rPr>
              <a:t>Estimates from the per-call token estimate the server reports, not invoices. Telephony charges are not included because the prototype runs in a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Picture 13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2" name="Google Shape;132;p2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SNAPSHOTS OF THE PROTOTYPE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The prototype, live today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rcRect b="4000"/>
          <a:stretch>
            <a:fillRect/>
          </a:stretch>
        </p:blipFill>
        <p:spPr>
          <a:xfrm>
            <a:off x="41148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2976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Home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rcRect b="4482"/>
          <a:stretch>
            <a:fillRect/>
          </a:stretch>
        </p:blipFill>
        <p:spPr>
          <a:xfrm>
            <a:off x="322326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4154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Live call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rcRect b="4482"/>
          <a:stretch>
            <a:fillRect/>
          </a:stretch>
        </p:blipFill>
        <p:spPr>
          <a:xfrm>
            <a:off x="603504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605332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Live dashboard (English call)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rcRect b="4482"/>
          <a:stretch>
            <a:fillRect/>
          </a:stretch>
        </p:blipFill>
        <p:spPr>
          <a:xfrm>
            <a:off x="41148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42976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Hindi call, English transcript</a:t>
            </a:r>
          </a:p>
        </p:txBody>
      </p:sp>
      <p:pic>
        <p:nvPicPr>
          <p:cNvPr id="146" name="Picture 145" descr="image.jpg"/>
          <p:cNvPicPr>
            <a:picLocks noChangeAspect="1"/>
          </p:cNvPicPr>
          <p:nvPr/>
        </p:nvPicPr>
        <p:blipFill>
          <a:blip r:embed="rId10"/>
          <a:srcRect b="4482"/>
          <a:stretch>
            <a:fillRect/>
          </a:stretch>
        </p:blipFill>
        <p:spPr>
          <a:xfrm>
            <a:off x="322326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324154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Call complete: 11 details, 7 confirmed</a:t>
            </a:r>
          </a:p>
        </p:txBody>
      </p:sp>
      <p:pic>
        <p:nvPicPr>
          <p:cNvPr id="148" name="Picture 147" descr="image.jpg"/>
          <p:cNvPicPr>
            <a:picLocks noChangeAspect="1"/>
          </p:cNvPicPr>
          <p:nvPr/>
        </p:nvPicPr>
        <p:blipFill>
          <a:blip r:embed="rId11"/>
          <a:srcRect b="3578"/>
          <a:stretch>
            <a:fillRect/>
          </a:stretch>
        </p:blipFill>
        <p:spPr>
          <a:xfrm>
            <a:off x="603504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9" name="TextBox 148"/>
          <p:cNvSpPr txBox="1"/>
          <p:nvPr/>
        </p:nvSpPr>
        <p:spPr>
          <a:xfrm>
            <a:off x="605332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Evidence: confirmed vs heard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0" name="Google Shape;140;p24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PROTOTYPE PERFORMANCE REPORT / BENCHMARKING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Measured, and honest about it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1371600"/>
            <a:ext cx="4526280" cy="2606040"/>
          </a:xfrm>
          <a:prstGeom prst="roundRect">
            <a:avLst>
              <a:gd name="adj" fmla="val 4912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94360" y="1463040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80">
                <a:solidFill>
                  <a:srgbClr val="38BDF8"/>
                </a:solidFill>
                <a:latin typeface="Segoe UI Semibold"/>
              </a:rPr>
              <a:t>SCAM DETECTION · ICFD-31k · 152 CALLS · 3 RUNS · SYNTHETIC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502920" y="1664208"/>
          <a:ext cx="43434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5074920" y="1371600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074920" y="1517904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202936" y="1426464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42 / 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202936" y="1737360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persona red-team prompts passed (30 hostile + 12 ordinary)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922008" y="1371600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922008" y="1517904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7050024" y="1426464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125 / 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050024" y="1737360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planted spoken-detail tests passed after speech-to-text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074920" y="2258568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5074920" y="2404872"/>
            <a:ext cx="36576" cy="5029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202936" y="2313432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8BDF8"/>
                </a:solidFill>
                <a:latin typeface="Segoe UI Semibold"/>
              </a:rPr>
              <a:t>37 / 40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202936" y="2624327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fraud calls flagged mid-call (keyword baseline: 31 / 40)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922008" y="2258568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6922008" y="2404872"/>
            <a:ext cx="36576" cy="5029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050024" y="2313432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B7CFF"/>
                </a:solidFill>
                <a:latin typeface="Segoe UI Semibold"/>
              </a:rPr>
              <a:t>5.5 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050024" y="2624327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voice-to-voice reply, median (p90 6.2 s)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74920" y="3145536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3291840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02936" y="320040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114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02936" y="3511296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automated tests pass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22008" y="3145536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6922008" y="3291840"/>
            <a:ext cx="3657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050024" y="320040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BBF24"/>
                </a:solidFill>
                <a:latin typeface="Segoe UI Semibold"/>
              </a:rPr>
              <a:t>58% → 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50024" y="3511296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decoy replies opening with a filler word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11480" y="4087368"/>
            <a:ext cx="8321040" cy="658368"/>
          </a:xfrm>
          <a:prstGeom prst="roundRect">
            <a:avLst>
              <a:gd name="adj" fmla="val 13888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566928" y="411480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60">
                <a:solidFill>
                  <a:srgbClr val="38BDF8"/>
                </a:solidFill>
                <a:latin typeface="Segoe UI Semibold"/>
              </a:rPr>
              <a:t>MEDIAN SECONDS INTO A FRAUD CALL BEFORE IT IS FLAGGED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69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Gemini Flash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554480" y="4407408"/>
            <a:ext cx="433142" cy="182880"/>
          </a:xfrm>
          <a:prstGeom prst="roundRect">
            <a:avLst>
              <a:gd name="adj" fmla="val 30000"/>
            </a:avLst>
          </a:prstGeom>
          <a:solidFill>
            <a:srgbClr val="38BDF8"/>
          </a:solidFill>
          <a:ln>
            <a:noFill/>
          </a:ln>
          <a:effectLst>
            <a:glow rad="508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2024198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17.3 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3101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Keyword baseline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297680" y="4407408"/>
            <a:ext cx="1008996" cy="182880"/>
          </a:xfrm>
          <a:prstGeom prst="roundRect">
            <a:avLst>
              <a:gd name="adj" fmla="val 30000"/>
            </a:avLst>
          </a:prstGeom>
          <a:solidFill>
            <a:srgbClr val="6F8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5343252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40.3 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533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Dataset's own label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7040880" y="4407408"/>
            <a:ext cx="1051560" cy="182880"/>
          </a:xfrm>
          <a:prstGeom prst="roundRect">
            <a:avLst>
              <a:gd name="adj" fmla="val 30000"/>
            </a:avLst>
          </a:prstGeom>
          <a:solidFill>
            <a:srgbClr val="1D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129016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42.0 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11480" y="4791456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6F84AE"/>
                </a:solidFill>
                <a:latin typeface="Segoe UI"/>
              </a:rPr>
              <a:t>ICFD-31k is synthetic and has only 12 legitimate calls, so specificity is uncertain. The red-team is a single run judged by a second Gemini 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15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8" name="Google Shape;148;p25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ADDITIONAL DETAILS / FUTURE DEVELOPMENT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Limits we state plainly, a roadmap we believe in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11480" y="1371600"/>
            <a:ext cx="3611880" cy="3383280"/>
          </a:xfrm>
          <a:prstGeom prst="roundRect">
            <a:avLst>
              <a:gd name="adj" fmla="val 3783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12648" y="150876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50">
                <a:solidFill>
                  <a:srgbClr val="FBBF24"/>
                </a:solidFill>
                <a:latin typeface="Segoe UI Semibold"/>
              </a:rPr>
              <a:t>TODAY'S LIMITS</a:t>
            </a:r>
          </a:p>
        </p:txBody>
      </p:sp>
      <p:sp>
        <p:nvSpPr>
          <p:cNvPr id="156" name="Oval 155"/>
          <p:cNvSpPr/>
          <p:nvPr/>
        </p:nvSpPr>
        <p:spPr>
          <a:xfrm>
            <a:off x="612648" y="1892807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795528" y="182880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A browser stands in for a phone line: no telco diversion yet</a:t>
            </a:r>
          </a:p>
        </p:txBody>
      </p:sp>
      <p:sp>
        <p:nvSpPr>
          <p:cNvPr id="158" name="Oval 157"/>
          <p:cNvSpPr/>
          <p:nvPr/>
        </p:nvSpPr>
        <p:spPr>
          <a:xfrm>
            <a:off x="612648" y="2395727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795528" y="23317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English, Hindi and Hinglish only</a:t>
            </a:r>
          </a:p>
        </p:txBody>
      </p:sp>
      <p:sp>
        <p:nvSpPr>
          <p:cNvPr id="160" name="Oval 159"/>
          <p:cNvSpPr/>
          <p:nvPr/>
        </p:nvSpPr>
        <p:spPr>
          <a:xfrm>
            <a:off x="612648" y="289864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95528" y="283464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Replies take a few seconds (median 5.5 s)</a:t>
            </a:r>
          </a:p>
        </p:txBody>
      </p:sp>
      <p:sp>
        <p:nvSpPr>
          <p:cNvPr id="162" name="Oval 161"/>
          <p:cNvSpPr/>
          <p:nvPr/>
        </p:nvSpPr>
        <p:spPr>
          <a:xfrm>
            <a:off x="612648" y="340156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95528" y="333756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Speech can be mis-heard, so every detail is a lead, not proof</a:t>
            </a:r>
          </a:p>
        </p:txBody>
      </p:sp>
      <p:sp>
        <p:nvSpPr>
          <p:cNvPr id="164" name="Oval 163"/>
          <p:cNvSpPr/>
          <p:nvPr/>
        </p:nvSpPr>
        <p:spPr>
          <a:xfrm>
            <a:off x="612648" y="390448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95528" y="384048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Detection is scored on a synthetic benchmark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43400" y="141732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ROADMAP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4572000" y="1828800"/>
            <a:ext cx="0" cy="2697480"/>
          </a:xfrm>
          <a:prstGeom prst="line">
            <a:avLst/>
          </a:prstGeom>
          <a:ln w="25400">
            <a:solidFill>
              <a:srgbClr val="1D35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4434840" y="1691640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434840" y="16916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46320" y="167335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Telco SIP diversion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846320" y="1911095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Real scam calls reach the decoy</a:t>
            </a:r>
          </a:p>
        </p:txBody>
      </p:sp>
      <p:sp>
        <p:nvSpPr>
          <p:cNvPr id="172" name="Oval 171"/>
          <p:cNvSpPr/>
          <p:nvPr/>
        </p:nvSpPr>
        <p:spPr>
          <a:xfrm>
            <a:off x="4434840" y="2221992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34840" y="2221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46320" y="220370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bank connections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846320" y="244144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Real bank webhooks and NCRP feeds, with a human check first</a:t>
            </a:r>
          </a:p>
        </p:txBody>
      </p:sp>
      <p:sp>
        <p:nvSpPr>
          <p:cNvPr id="176" name="Oval 175"/>
          <p:cNvSpPr/>
          <p:nvPr/>
        </p:nvSpPr>
        <p:spPr>
          <a:xfrm>
            <a:off x="4434840" y="2752344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434840" y="27523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846320" y="273405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Scam radar for banks and I4C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Every new strain lights up a shared early-warning map</a:t>
            </a:r>
          </a:p>
        </p:txBody>
      </p:sp>
      <p:sp>
        <p:nvSpPr>
          <p:cNvPr id="180" name="Oval 179"/>
          <p:cNvSpPr/>
          <p:nvPr/>
        </p:nvSpPr>
        <p:spPr>
          <a:xfrm>
            <a:off x="4434840" y="3282696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434840" y="3282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46320" y="326440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Voice-clone defence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846320" y="350215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Spot cloned voices and teach families to question them</a:t>
            </a:r>
          </a:p>
        </p:txBody>
      </p:sp>
      <p:sp>
        <p:nvSpPr>
          <p:cNvPr id="184" name="Oval 183"/>
          <p:cNvSpPr/>
          <p:nvPr/>
        </p:nvSpPr>
        <p:spPr>
          <a:xfrm>
            <a:off x="4434840" y="3813048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34840" y="3813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46320" y="379476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More Indian languages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846320" y="403250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And faster, more natural voice replies</a:t>
            </a:r>
          </a:p>
        </p:txBody>
      </p:sp>
      <p:sp>
        <p:nvSpPr>
          <p:cNvPr id="188" name="Oval 187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4434840" y="4343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46320" y="432511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Vaccine drills on WhatsApp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846320" y="456285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At scale, for families and senior citizens</a:t>
            </a:r>
          </a:p>
        </p:txBody>
      </p:sp>
      <p:sp>
        <p:nvSpPr>
          <p:cNvPr id="192" name="Oval 191"/>
          <p:cNvSpPr/>
          <p:nvPr/>
        </p:nvSpPr>
        <p:spPr>
          <a:xfrm>
            <a:off x="612648" y="440740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95528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Bank inboxes are proxies: nothing reaches a real bank yet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Picture 16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64" name="Google Shape;164;p27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SAFETY, PRIVACY AND RESPONSIBLE USE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Safe by design, not by promise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1148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612648" y="1572768"/>
            <a:ext cx="384048" cy="384048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889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1264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1264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Never real data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1264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No OTP, PIN, CVV, card, Aadhaar or PAN. Ever.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2326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Oval 175"/>
          <p:cNvSpPr/>
          <p:nvPr/>
        </p:nvSpPr>
        <p:spPr>
          <a:xfrm>
            <a:off x="3424428" y="15727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889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342442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2442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Never reveals it is an AI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42442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Passed 42 of 42 red-team prompts. Never insults or threatens.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603504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Oval 180"/>
          <p:cNvSpPr/>
          <p:nvPr/>
        </p:nvSpPr>
        <p:spPr>
          <a:xfrm>
            <a:off x="6236208" y="1572768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889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623620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3620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A lead, not a verdict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3620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Every pack says details came from an unverified caller.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148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Oval 185"/>
          <p:cNvSpPr/>
          <p:nvPr/>
        </p:nvSpPr>
        <p:spPr>
          <a:xfrm>
            <a:off x="612648" y="3255264"/>
            <a:ext cx="384048" cy="384048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889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61264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1264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Consent-first drills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1264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A parent agrees first. The call stops at the first sign of risk.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322326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B82F6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3424428" y="3255264"/>
            <a:ext cx="384048" cy="384048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88900">
              <a:srgbClr val="3B82F6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342442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42442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Private by default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2442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Deny-all Firestore, private recordings, deleted after 14 days.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603504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7185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Oval 195"/>
          <p:cNvSpPr/>
          <p:nvPr/>
        </p:nvSpPr>
        <p:spPr>
          <a:xfrm>
            <a:off x="6236208" y="325526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>
            <a:glow rad="88900">
              <a:srgbClr val="FB7185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23620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23620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Affordable by design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23620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Per-IP limits, call caps, a kill switch and budget alerts.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Picture 15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56" name="Google Shape;156;p26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LINKS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Try it in thirty seconds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11480" y="4480560"/>
            <a:ext cx="8321040" cy="384048"/>
          </a:xfrm>
          <a:prstGeom prst="roundRect">
            <a:avLst>
              <a:gd name="adj" fmla="val 47619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548640" y="448056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8BDF8"/>
                </a:solidFill>
                <a:latin typeface="Segoe UI Semibold"/>
              </a:rPr>
              <a:t>No microphone? </a:t>
            </a:r>
            <a:r>
              <a:rPr sz="1000" b="0" i="0">
                <a:solidFill>
                  <a:srgbClr val="F5F8FF"/>
                </a:solidFill>
                <a:latin typeface="Segoe UI"/>
              </a:rPr>
              <a:t>Open the Replay in English or Hindi, or type to the decoy in text chat on the Live page.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41148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38BDF8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4360" y="1371600"/>
            <a:ext cx="54864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891540" y="1572768"/>
            <a:ext cx="1737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" y="1636776"/>
            <a:ext cx="1609344" cy="1609344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Live product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4008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stallwart.web.app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322326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8B7CFF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406140" y="1371600"/>
            <a:ext cx="54864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ounded Rectangle 195"/>
          <p:cNvSpPr/>
          <p:nvPr/>
        </p:nvSpPr>
        <p:spPr>
          <a:xfrm>
            <a:off x="3703320" y="1572768"/>
            <a:ext cx="1737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7" name="Picture 196" descr="qr-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7328" y="1636776"/>
            <a:ext cx="1609344" cy="1609344"/>
          </a:xfrm>
          <a:prstGeom prst="rect">
            <a:avLst/>
          </a:prstGeom>
        </p:spPr>
      </p:pic>
      <p:sp>
        <p:nvSpPr>
          <p:cNvPr id="198" name="TextBox 197"/>
          <p:cNvSpPr txBox="1"/>
          <p:nvPr/>
        </p:nvSpPr>
        <p:spPr>
          <a:xfrm>
            <a:off x="345186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GitHub repository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5186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github.com/OWAIS285/stallwart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03504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FBBF24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217920" y="1371600"/>
            <a:ext cx="548640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697980" y="1691640"/>
            <a:ext cx="1371600" cy="1371600"/>
          </a:xfrm>
          <a:prstGeom prst="ellipse">
            <a:avLst/>
          </a:prstGeom>
          <a:solidFill>
            <a:srgbClr val="FBBF24">
              <a:alpha val="18000"/>
            </a:srgbClr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Isosceles Triangle 202"/>
          <p:cNvSpPr/>
          <p:nvPr/>
        </p:nvSpPr>
        <p:spPr>
          <a:xfrm rot="5400000">
            <a:off x="7274052" y="2167128"/>
            <a:ext cx="384048" cy="420624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26364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Demo video (3 min)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26364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Link added here after upload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sp>
        <p:nvSpPr>
          <p:cNvPr id="79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NEW · BANK ALERTS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Mule accounts go straight to the right bank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" y="1371600"/>
            <a:ext cx="548640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76072" y="1536192"/>
            <a:ext cx="292608" cy="292608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832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Detail confirmed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6072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 UPI ID or bank account passes two checks.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1720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45049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709641" y="1371600"/>
            <a:ext cx="548640" cy="41148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09641" y="1536192"/>
            <a:ext cx="292608" cy="292608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09641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75401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Routed to its bank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09641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The IFSC code, or the UPI handle, names the bank.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65289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78619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43211" y="1371600"/>
            <a:ext cx="548640" cy="411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843211" y="1536192"/>
            <a:ext cx="292608" cy="292608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43211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08971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Signed alert sent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43211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Delivered by webhook, retried until it lands.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98859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812188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76780" y="1371600"/>
            <a:ext cx="54864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76780" y="1536192"/>
            <a:ext cx="292608" cy="292608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762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76780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42540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Bank decides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76780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Monitor, Freeze or Dismiss. The choice rides on later reports.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2743200"/>
            <a:ext cx="4937760" cy="2103120"/>
          </a:xfrm>
          <a:prstGeom prst="roundRect">
            <a:avLst>
              <a:gd name="adj" fmla="val 6086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94360" y="2898648"/>
            <a:ext cx="329184" cy="329184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63500">
              <a:srgbClr val="3B82F6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94360" y="28986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5F8FF"/>
                </a:solidFill>
                <a:latin typeface="Segoe UI Semibold"/>
              </a:rPr>
              <a:t>₹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" y="28803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State Bank of India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4128" y="309067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Proxy inbox · IFSC prefix SBIN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60520" y="2926080"/>
            <a:ext cx="756391" cy="237744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160520" y="2926080"/>
            <a:ext cx="75639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1 report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4360" y="3364992"/>
            <a:ext cx="4572000" cy="9144"/>
          </a:xfrm>
          <a:prstGeom prst="rect">
            <a:avLst/>
          </a:prstGeom>
          <a:solidFill>
            <a:srgbClr val="1D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4360" y="345643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8BDF8"/>
                </a:solidFill>
                <a:latin typeface="Segoe UI Semibold"/>
              </a:rPr>
              <a:t>BANK ACCOUNT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4360" y="36393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5F8FF"/>
                </a:solidFill>
                <a:latin typeface="Consolas"/>
              </a:rPr>
              <a:t>123456789012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4069080"/>
            <a:ext cx="714512" cy="22860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94360" y="4069080"/>
            <a:ext cx="7145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Delivered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372880" y="4069080"/>
            <a:ext cx="1187074" cy="228600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372880" y="4069080"/>
            <a:ext cx="118707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Review for freeze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23962" y="4069080"/>
            <a:ext cx="1009863" cy="22860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623962" y="4069080"/>
            <a:ext cx="1009863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Digital arrest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697833" y="4069080"/>
            <a:ext cx="1068933" cy="228600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97833" y="4069080"/>
            <a:ext cx="1068933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seen in 2 calls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4360" y="4425696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Play the bank (demo only):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14600" y="4389120"/>
            <a:ext cx="693846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514600" y="4389120"/>
            <a:ext cx="6938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Monitor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281598" y="4389120"/>
            <a:ext cx="631301" cy="256032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281598" y="4389120"/>
            <a:ext cx="6313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Freeze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986052" y="4389120"/>
            <a:ext cx="693846" cy="256032"/>
          </a:xfrm>
          <a:prstGeom prst="roundRect">
            <a:avLst>
              <a:gd name="adj" fmla="val 50000"/>
            </a:avLst>
          </a:prstGeom>
          <a:solidFill>
            <a:srgbClr val="6F84AE">
              <a:alpha val="14000"/>
            </a:srgbClr>
          </a:solidFill>
          <a:ln w="9525">
            <a:solidFill>
              <a:srgbClr val="6F84AE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986052" y="4389120"/>
            <a:ext cx="6938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Dismiss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4360" y="4663440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1">
                <a:solidFill>
                  <a:srgbClr val="6F84AE"/>
                </a:solidFill>
                <a:latin typeface="Segoe UI"/>
              </a:rPr>
              <a:t>Sample screen, fictional data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532120" y="2743200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532120" y="2871216"/>
            <a:ext cx="41148" cy="3840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87568" y="280720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One account, many calls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87568" y="3026664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Each account is counted across calls, so repeat mules stand out.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532120" y="3456432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32120" y="3584448"/>
            <a:ext cx="41148" cy="3840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87568" y="3520440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Banks answer 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87568" y="3739896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A freeze or monitor decision rides on every later report.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532120" y="4169664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532120" y="4297680"/>
            <a:ext cx="41148" cy="3840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87568" y="4233672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Proxy banks for now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87568" y="4453128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Nothing is sent to a real bank in this prototype.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1489</Words>
  <Application>Microsoft Office PowerPoint</Application>
  <PresentationFormat>On-screen Show (16:9)</PresentationFormat>
  <Paragraphs>304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Segoe UI</vt:lpstr>
      <vt:lpstr>Arial</vt:lpstr>
      <vt:lpstr>Segoe UI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Ayub Khan Mohammed Owais Khan (ATV MC D SW IMA MET)</cp:lastModifiedBy>
  <cp:revision>3</cp:revision>
  <dcterms:modified xsi:type="dcterms:W3CDTF">2026-10-16T07:22:56Z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empower.integration.Classification.DocumentId">
    <vt:lpwstr/>
  </property>
  <property fmtid="{D5CDD505-2E9C-101B-9397-08002B2CF9AE}" pid="3" name="empower.integration.Classification.DocumentVersion">
    <vt:lpwstr/>
  </property>
  <property fmtid="{D5CDD505-2E9C-101B-9397-08002B2CF9AE}" pid="4" name="empower.integration.Classification.DocumentOwner">
    <vt:lpwstr/>
  </property>
  <property fmtid="{D5CDD505-2E9C-101B-9397-08002B2CF9AE}" pid="5" name="empower.integration.Classification.ShowFooter">
    <vt:bool>true</vt:bool>
  </property>
  <property fmtid="{D5CDD505-2E9C-101B-9397-08002B2CF9AE}" pid="6" name="empower.integration.Classification.RestrictionLevel">
    <vt:i4>1</vt:i4>
  </property>
  <property fmtid="{D5CDD505-2E9C-101B-9397-08002B2CF9AE}" pid="7" name="MSIP_Label_a15a25aa-e944-415d-b7a7-40f6b9180b6b_Enabled">
    <vt:bool>true</vt:bool>
  </property>
  <property fmtid="{D5CDD505-2E9C-101B-9397-08002B2CF9AE}" pid="8" name="MSIP_Label_a15a25aa-e944-415d-b7a7-40f6b9180b6b_SetDate">
    <vt:lpwstr>2026-10-16 07:04:39Z</vt:lpwstr>
  </property>
  <property fmtid="{D5CDD505-2E9C-101B-9397-08002B2CF9AE}" pid="9" name="MSIP_Label_a15a25aa-e944-415d-b7a7-40f6b9180b6b_Method">
    <vt:lpwstr>Privileged</vt:lpwstr>
  </property>
  <property fmtid="{D5CDD505-2E9C-101B-9397-08002B2CF9AE}" pid="10" name="MSIP_Label_a15a25aa-e944-415d-b7a7-40f6b9180b6b_Name">
    <vt:lpwstr>a15a25aa-e944-415d-b7a7-40f6b9180b6b</vt:lpwstr>
  </property>
  <property fmtid="{D5CDD505-2E9C-101B-9397-08002B2CF9AE}" pid="11" name="MSIP_Label_a15a25aa-e944-415d-b7a7-40f6b9180b6b_SiteId">
    <vt:lpwstr>eeb8d0e8-3544-41d3-aac6-934c309faf5a</vt:lpwstr>
  </property>
  <property fmtid="{D5CDD505-2E9C-101B-9397-08002B2CF9AE}" pid="12" name="MSIP_Label_a15a25aa-e944-415d-b7a7-40f6b9180b6b_ActionId">
    <vt:lpwstr>69cb5d7a-a214-4a2f-9867-17d98cbe2516</vt:lpwstr>
  </property>
  <property fmtid="{D5CDD505-2E9C-101B-9397-08002B2CF9AE}" pid="13" name="MSIP_Label_a15a25aa-e944-415d-b7a7-40f6b9180b6b_ContentBits">
    <vt:lpwstr>0</vt:lpwstr>
  </property>
  <property fmtid="{D5CDD505-2E9C-101B-9397-08002B2CF9AE}" pid="14" name="empower.integration.Classification.FooterDate">
    <vt:filetime>2026-10-16T07:04:39Z</vt:filetime>
  </property>
  <property fmtid="{D5CDD505-2E9C-101B-9397-08002B2CF9AE}" pid="15" name="empower.integration.Classification.DateFormat">
    <vt:lpwstr/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false</vt:bool>
  </property>
</Properties>
</file>