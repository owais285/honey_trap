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70" r:id="rId20"/>
    <p:sldId id="269" r:id="rId19"/>
    <p:sldId id="271" r:id="rId21"/>
  </p:sldIdLst>
  <p:sldSz cy="5143500" cx="9144000"/>
  <p:notesSz cx="6858000" cy="9144000"/>
  <p:embeddedFontLst>
    <p:embeddedFont>
      <p:font typeface="Google Sans Flex Medium"/>
      <p:regular r:id="rId22"/>
      <p:bold r:id="rId23"/>
    </p:embeddedFont>
    <p:embeddedFont>
      <p:font typeface="Google Sans Flex"/>
      <p:regular r:id="rId24"/>
      <p:bold r:id="rId25"/>
    </p:embeddedFont>
    <p:embeddedFont>
      <p:font typeface="Google Sans Flex SemiBold"/>
      <p:regular r:id="rId26"/>
      <p:bold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4.xml"/><Relationship Id="rId20" Type="http://schemas.openxmlformats.org/officeDocument/2006/relationships/slide" Target="slides/slide13.xml"/><Relationship Id="rId21" Type="http://schemas.openxmlformats.org/officeDocument/2006/relationships/slide" Target="slides/slide15.xml"/><Relationship Id="rId22" Type="http://schemas.openxmlformats.org/officeDocument/2006/relationships/font" Target="fonts/GoogleSansFlexMedium-regular.fntdata"/><Relationship Id="rId23" Type="http://schemas.openxmlformats.org/officeDocument/2006/relationships/font" Target="fonts/GoogleSansFlexMedium-bold.fntdata"/><Relationship Id="rId24" Type="http://schemas.openxmlformats.org/officeDocument/2006/relationships/font" Target="fonts/GoogleSansFlex-regular.fntdata"/><Relationship Id="rId25" Type="http://schemas.openxmlformats.org/officeDocument/2006/relationships/font" Target="fonts/GoogleSansFlex-bold.fntdata"/><Relationship Id="rId26" Type="http://schemas.openxmlformats.org/officeDocument/2006/relationships/font" Target="fonts/GoogleSansFlexSemiBold-regular.fntdata"/><Relationship Id="rId27" Type="http://schemas.openxmlformats.org/officeDocument/2006/relationships/font" Target="fonts/GoogleSansFlexSemiBold-bold.fntdata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Keyword baseline</c:v>
                </c:pt>
              </c:strCache>
            </c:strRef>
          </c:tx>
          <c:spPr>
            <a:solidFill>
              <a:srgbClr val="DADCE0"/>
            </a:solidFill>
          </c:spPr>
          <c:cat>
            <c:strRef>
              <c:f>Sheet1!$A$2:$A$5</c:f>
              <c:strCache>
                <c:ptCount val="4"/>
                <c:pt idx="0">
                  <c:v>Recall</c:v>
                </c:pt>
                <c:pt idx="1">
                  <c:v>Precision</c:v>
                </c:pt>
                <c:pt idx="2">
                  <c:v>F1</c:v>
                </c:pt>
                <c:pt idx="3">
                  <c:v>Specificity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68.6</c:v>
                </c:pt>
                <c:pt idx="1">
                  <c:v>92.3</c:v>
                </c:pt>
                <c:pt idx="2">
                  <c:v>78.7</c:v>
                </c:pt>
                <c:pt idx="3">
                  <c:v>33.3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Gemini Flash classifier</c:v>
                </c:pt>
              </c:strCache>
            </c:strRef>
          </c:tx>
          <c:spPr>
            <a:solidFill>
              <a:srgbClr val="4285F4"/>
            </a:solidFill>
          </c:spPr>
          <c:cat>
            <c:strRef>
              <c:f>Sheet1!$A$2:$A$5</c:f>
              <c:strCache>
                <c:ptCount val="4"/>
                <c:pt idx="0">
                  <c:v>Recall</c:v>
                </c:pt>
                <c:pt idx="1">
                  <c:v>Precision</c:v>
                </c:pt>
                <c:pt idx="2">
                  <c:v>F1</c:v>
                </c:pt>
                <c:pt idx="3">
                  <c:v>Specificity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86.6</c:v>
                </c:pt>
                <c:pt idx="1">
                  <c:v>96.5</c:v>
                </c:pt>
                <c:pt idx="2">
                  <c:v>91.3</c:v>
                </c:pt>
                <c:pt idx="3">
                  <c:v>61.3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8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10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900">
          <a:latin typeface="Google Sans Flex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Keyword baseline</c:v>
                </c:pt>
              </c:strCache>
            </c:strRef>
          </c:tx>
          <c:spPr>
            <a:solidFill>
              <a:srgbClr val="6F84AE"/>
            </a:solidFill>
          </c:spPr>
          <c:cat>
            <c:strRef>
              <c:f>Sheet1!$A$2:$A$4</c:f>
              <c:strCache>
                <c:ptCount val="3"/>
                <c:pt idx="0">
                  <c:v>Recall</c:v>
                </c:pt>
                <c:pt idx="1">
                  <c:v>Precision</c:v>
                </c:pt>
                <c:pt idx="2">
                  <c:v>F1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68.6</c:v>
                </c:pt>
                <c:pt idx="1">
                  <c:v>92.3</c:v>
                </c:pt>
                <c:pt idx="2">
                  <c:v>78.7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Gemini Flash classifier</c:v>
                </c:pt>
              </c:strCache>
            </c:strRef>
          </c:tx>
          <c:spPr>
            <a:solidFill>
              <a:srgbClr val="38BDF8"/>
            </a:solidFill>
          </c:spPr>
          <c:cat>
            <c:strRef>
              <c:f>Sheet1!$A$2:$A$4</c:f>
              <c:strCache>
                <c:ptCount val="3"/>
                <c:pt idx="0">
                  <c:v>Recall</c:v>
                </c:pt>
                <c:pt idx="1">
                  <c:v>Precision</c:v>
                </c:pt>
                <c:pt idx="2">
                  <c:v>F1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86.6</c:v>
                </c:pt>
                <c:pt idx="1">
                  <c:v>96.5</c:v>
                </c:pt>
                <c:pt idx="2">
                  <c:v>91.3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900" b="1">
                  <a:solidFill>
                    <a:srgbClr val="F5F8FF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overlap val="-8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1D3566"/>
            </a:solidFill>
          </a:ln>
        </c:spPr>
        <c:txPr>
          <a:bodyPr/>
          <a:lstStyle/>
          <a:p>
            <a:pPr>
              <a:defRPr sz="1000">
                <a:solidFill>
                  <a:srgbClr val="F5F8FF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10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>
              <a:solidFill>
                <a:srgbClr val="9DB0D4"/>
              </a:solidFill>
            </a:defRPr>
          </a:pPr>
        </a:p>
      </c:txPr>
    </c:legend>
    <c:dispBlanksAs val="gap"/>
  </c:chart>
  <c:txPr>
    <a:bodyPr/>
    <a:lstStyle/>
    <a:p>
      <a:pPr>
        <a:defRPr sz="900">
          <a:solidFill>
            <a:srgbClr val="9DB0D4"/>
          </a:solidFill>
          <a:latin typeface="Segoe U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Keyword baseline</c:v>
                </c:pt>
              </c:strCache>
            </c:strRef>
          </c:tx>
          <c:spPr>
            <a:solidFill>
              <a:srgbClr val="6F84AE"/>
            </a:solidFill>
          </c:spPr>
          <c:cat>
            <c:strRef>
              <c:f>Sheet1!$A$2:$A$4</c:f>
              <c:strCache>
                <c:ptCount val="3"/>
                <c:pt idx="0">
                  <c:v>Recall</c:v>
                </c:pt>
                <c:pt idx="1">
                  <c:v>Precision</c:v>
                </c:pt>
                <c:pt idx="2">
                  <c:v>F1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68.6</c:v>
                </c:pt>
                <c:pt idx="1">
                  <c:v>92.3</c:v>
                </c:pt>
                <c:pt idx="2">
                  <c:v>78.7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Gemini Flash classifier</c:v>
                </c:pt>
              </c:strCache>
            </c:strRef>
          </c:tx>
          <c:spPr>
            <a:solidFill>
              <a:srgbClr val="38BDF8"/>
            </a:solidFill>
          </c:spPr>
          <c:cat>
            <c:strRef>
              <c:f>Sheet1!$A$2:$A$4</c:f>
              <c:strCache>
                <c:ptCount val="3"/>
                <c:pt idx="0">
                  <c:v>Recall</c:v>
                </c:pt>
                <c:pt idx="1">
                  <c:v>Precision</c:v>
                </c:pt>
                <c:pt idx="2">
                  <c:v>F1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86.6</c:v>
                </c:pt>
                <c:pt idx="1">
                  <c:v>96.5</c:v>
                </c:pt>
                <c:pt idx="2">
                  <c:v>91.3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900" b="1">
                  <a:solidFill>
                    <a:srgbClr val="F5F8FF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overlap val="-8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1D3566"/>
            </a:solidFill>
          </a:ln>
        </c:spPr>
        <c:txPr>
          <a:bodyPr/>
          <a:lstStyle/>
          <a:p>
            <a:pPr>
              <a:defRPr sz="1000">
                <a:solidFill>
                  <a:srgbClr val="F5F8FF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10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>
              <a:solidFill>
                <a:srgbClr val="9DB0D4"/>
              </a:solidFill>
            </a:defRPr>
          </a:pPr>
        </a:p>
      </c:txPr>
    </c:legend>
    <c:dispBlanksAs val="gap"/>
  </c:chart>
  <c:txPr>
    <a:bodyPr/>
    <a:lstStyle/>
    <a:p>
      <a:pPr>
        <a:defRPr sz="900">
          <a:solidFill>
            <a:srgbClr val="9DB0D4"/>
          </a:solidFill>
          <a:latin typeface="Segoe UI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Keyword baseline</c:v>
                </c:pt>
              </c:strCache>
            </c:strRef>
          </c:tx>
          <c:spPr>
            <a:solidFill>
              <a:srgbClr val="6F84AE"/>
            </a:solidFill>
          </c:spPr>
          <c:cat>
            <c:strRef>
              <c:f>Sheet1!$A$2:$A$4</c:f>
              <c:strCache>
                <c:ptCount val="3"/>
                <c:pt idx="0">
                  <c:v>Recall</c:v>
                </c:pt>
                <c:pt idx="1">
                  <c:v>Precision</c:v>
                </c:pt>
                <c:pt idx="2">
                  <c:v>F1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68.6</c:v>
                </c:pt>
                <c:pt idx="1">
                  <c:v>92.3</c:v>
                </c:pt>
                <c:pt idx="2">
                  <c:v>78.7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Gemini Flash classifier</c:v>
                </c:pt>
              </c:strCache>
            </c:strRef>
          </c:tx>
          <c:spPr>
            <a:solidFill>
              <a:srgbClr val="38BDF8"/>
            </a:solidFill>
          </c:spPr>
          <c:cat>
            <c:strRef>
              <c:f>Sheet1!$A$2:$A$4</c:f>
              <c:strCache>
                <c:ptCount val="3"/>
                <c:pt idx="0">
                  <c:v>Recall</c:v>
                </c:pt>
                <c:pt idx="1">
                  <c:v>Precision</c:v>
                </c:pt>
                <c:pt idx="2">
                  <c:v>F1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86.6</c:v>
                </c:pt>
                <c:pt idx="1">
                  <c:v>96.5</c:v>
                </c:pt>
                <c:pt idx="2">
                  <c:v>91.3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900" b="1">
                  <a:solidFill>
                    <a:srgbClr val="F5F8FF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overlap val="-8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1D3566"/>
            </a:solidFill>
          </a:ln>
        </c:spPr>
        <c:txPr>
          <a:bodyPr/>
          <a:lstStyle/>
          <a:p>
            <a:pPr>
              <a:defRPr sz="1000">
                <a:solidFill>
                  <a:srgbClr val="F5F8FF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10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>
              <a:solidFill>
                <a:srgbClr val="9DB0D4"/>
              </a:solidFill>
            </a:defRPr>
          </a:pPr>
        </a:p>
      </c:txPr>
    </c:legend>
    <c:dispBlanksAs val="gap"/>
  </c:chart>
  <c:txPr>
    <a:bodyPr/>
    <a:lstStyle/>
    <a:p>
      <a:pPr>
        <a:defRPr sz="900">
          <a:solidFill>
            <a:srgbClr val="9DB0D4"/>
          </a:solidFill>
          <a:latin typeface="Segoe U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fb085bff3c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fb085bff3c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fb085bff3c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fb085bff3c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b085bff3c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b085bff3c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fb085bff3c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fb085bff3c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fb085bff3c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fb085bff3c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fb085bff3c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fb085bff3c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fb085bff3c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fb085bff3c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fb085bff3c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fb085bff3c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fb085bff3c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fb085bff3c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fb085bff3c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fb085bff3c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fb085bff3c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fb085bff3c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fb085bff3c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fb085bff3c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fb085bff3c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fb085bff3c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fb085bff3c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fb085bff3c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1.jpg"/><Relationship Id="rId6" Type="http://schemas.openxmlformats.org/officeDocument/2006/relationships/image" Target="../media/image1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1.jpg"/><Relationship Id="rId8" Type="http://schemas.openxmlformats.org/officeDocument/2006/relationships/image" Target="../media/image27.jpg"/><Relationship Id="rId9" Type="http://schemas.openxmlformats.org/officeDocument/2006/relationships/image" Target="../media/image28.jpg"/><Relationship Id="rId10" Type="http://schemas.openxmlformats.org/officeDocument/2006/relationships/image" Target="../media/image29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1.jpg"/><Relationship Id="rId9" Type="http://schemas.openxmlformats.org/officeDocument/2006/relationships/image" Target="../media/image30.jpg"/><Relationship Id="rId10" Type="http://schemas.openxmlformats.org/officeDocument/2006/relationships/image" Target="../media/image31.jpg"/><Relationship Id="rId11" Type="http://schemas.openxmlformats.org/officeDocument/2006/relationships/image" Target="../media/image3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11" Type="http://schemas.openxmlformats.org/officeDocument/2006/relationships/image" Target="../media/image1.jpg"/><Relationship Id="rId18" Type="http://schemas.openxmlformats.org/officeDocument/2006/relationships/image" Target="../media/image33.jpg"/><Relationship Id="rId19" Type="http://schemas.openxmlformats.org/officeDocument/2006/relationships/image" Target="../media/image34.jpg"/><Relationship Id="rId20" Type="http://schemas.openxmlformats.org/officeDocument/2006/relationships/image" Target="../media/image30.jpg"/><Relationship Id="rId21" Type="http://schemas.openxmlformats.org/officeDocument/2006/relationships/image" Target="../media/image35.jpg"/><Relationship Id="rId22" Type="http://schemas.openxmlformats.org/officeDocument/2006/relationships/image" Target="../media/image36.jpg"/><Relationship Id="rId23" Type="http://schemas.openxmlformats.org/officeDocument/2006/relationships/image" Target="../media/image37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chart" Target="../charts/chart1.xml"/><Relationship Id="rId6" Type="http://schemas.openxmlformats.org/officeDocument/2006/relationships/image" Target="../media/image1.jpg"/><Relationship Id="rId7" Type="http://schemas.openxmlformats.org/officeDocument/2006/relationships/chart" Target="../charts/chart2.xml"/><Relationship Id="rId8" Type="http://schemas.openxmlformats.org/officeDocument/2006/relationships/chart" Target="../charts/chart3.xml"/><Relationship Id="rId9" Type="http://schemas.openxmlformats.org/officeDocument/2006/relationships/chart" Target="../charts/chart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hyperlink" Target="https://github.com/OWAIS285/stallwart" TargetMode="External"/><Relationship Id="rId6" Type="http://schemas.openxmlformats.org/officeDocument/2006/relationships/hyperlink" Target="https://stallwart.web.app" TargetMode="External"/><Relationship Id="rId7" Type="http://schemas.openxmlformats.org/officeDocument/2006/relationships/image" Target="../media/image1.jpg"/><Relationship Id="rId8" Type="http://schemas.openxmlformats.org/officeDocument/2006/relationships/image" Target="../media/image24.png"/><Relationship Id="rId9" Type="http://schemas.openxmlformats.org/officeDocument/2006/relationships/image" Target="../media/image25.png"/><Relationship Id="rId10" Type="http://schemas.openxmlformats.org/officeDocument/2006/relationships/image" Target="../media/image2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4070F"/>
        </a:solidFill>
        <a:effectLst/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Picture 56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55" name="Google Shape;55;p13" title="Frame 14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3"/>
            <a:ext cx="9144000" cy="2715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 title="Frame 144.png"/>
          <p:cNvPicPr preferRelativeResize="0"/>
          <p:nvPr/>
        </p:nvPicPr>
        <p:blipFill rotWithShape="1">
          <a:blip r:embed="rId4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Picture 5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89320" y="2395728"/>
            <a:ext cx="3200400" cy="3200400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457200" y="2852928"/>
            <a:ext cx="5669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 i="0">
                <a:solidFill>
                  <a:srgbClr val="F5F8FF"/>
                </a:solidFill>
                <a:latin typeface="Segoe UI Semibold"/>
              </a:rPr>
              <a:t>Stall</a:t>
            </a:r>
            <a:r>
              <a:rPr sz="3800" b="1" i="0">
                <a:solidFill>
                  <a:srgbClr val="5AA9FF"/>
                </a:solidFill>
                <a:latin typeface="Segoe UI Semibold"/>
              </a:rPr>
              <a:t>wart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57200" y="3529584"/>
            <a:ext cx="5394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0" i="0">
                <a:solidFill>
                  <a:srgbClr val="9DB0D4"/>
                </a:solidFill>
                <a:latin typeface="Segoe UI"/>
              </a:rPr>
              <a:t>The AI decoy that keeps scammers talking, catches the payee, and turns every scam into protection for the next family.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57200" y="4315968"/>
            <a:ext cx="1246327" cy="475488"/>
          </a:xfrm>
          <a:prstGeom prst="roundRect">
            <a:avLst>
              <a:gd name="adj" fmla="val 19230"/>
            </a:avLst>
          </a:prstGeom>
          <a:solidFill>
            <a:srgbClr val="0B1428">
              <a:alpha val="82000"/>
            </a:srgbClr>
          </a:solidFill>
          <a:ln w="9525">
            <a:solidFill>
              <a:srgbClr val="1D3566">
                <a:alpha val="8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85216" y="4361688"/>
            <a:ext cx="1063447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1" i="0" spc="140">
                <a:solidFill>
                  <a:srgbClr val="38BDF8"/>
                </a:solidFill>
                <a:latin typeface="Segoe UI Semibold"/>
              </a:rPr>
              <a:t>TEAM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85216" y="4507992"/>
            <a:ext cx="1063447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F5F8FF"/>
                </a:solidFill>
                <a:latin typeface="Segoe UI Semibold"/>
              </a:rPr>
              <a:t>Null &amp; Void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1794967" y="4315968"/>
            <a:ext cx="1853488" cy="475488"/>
          </a:xfrm>
          <a:prstGeom prst="roundRect">
            <a:avLst>
              <a:gd name="adj" fmla="val 19230"/>
            </a:avLst>
          </a:prstGeom>
          <a:solidFill>
            <a:srgbClr val="0B1428">
              <a:alpha val="82000"/>
            </a:srgbClr>
          </a:solidFill>
          <a:ln w="9525">
            <a:solidFill>
              <a:srgbClr val="1D3566">
                <a:alpha val="8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922983" y="4361688"/>
            <a:ext cx="167060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1" i="0" spc="140">
                <a:solidFill>
                  <a:srgbClr val="38BDF8"/>
                </a:solidFill>
                <a:latin typeface="Segoe UI Semibold"/>
              </a:rPr>
              <a:t>LEADER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922983" y="4507992"/>
            <a:ext cx="167060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F5F8FF"/>
                </a:solidFill>
                <a:latin typeface="Segoe UI Semibold"/>
              </a:rPr>
              <a:t>Mohammed Owais Khan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3739896" y="4315968"/>
            <a:ext cx="1322222" cy="475488"/>
          </a:xfrm>
          <a:prstGeom prst="roundRect">
            <a:avLst>
              <a:gd name="adj" fmla="val 19230"/>
            </a:avLst>
          </a:prstGeom>
          <a:solidFill>
            <a:srgbClr val="0B1428">
              <a:alpha val="82000"/>
            </a:srgbClr>
          </a:solidFill>
          <a:ln w="9525">
            <a:solidFill>
              <a:srgbClr val="1D3566">
                <a:alpha val="8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867911" y="4361688"/>
            <a:ext cx="113934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1" i="0" spc="140">
                <a:solidFill>
                  <a:srgbClr val="38BDF8"/>
                </a:solidFill>
                <a:latin typeface="Segoe UI Semibold"/>
              </a:rPr>
              <a:t>MEMBER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867911" y="4507992"/>
            <a:ext cx="113934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F5F8FF"/>
                </a:solidFill>
                <a:latin typeface="Segoe UI Semibold"/>
              </a:rPr>
              <a:t>Kshiraj Nair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57200" y="4846320"/>
            <a:ext cx="5852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6F84AE"/>
                </a:solidFill>
                <a:latin typeface="Segoe UI"/>
              </a:rPr>
              <a:t>Theme: BFSI · Intelligent Risk, Fraud and Financial Experiences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4070F"/>
        </a:solidFill>
        <a:effectLst/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Picture 70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69" name="Google Shape;69;p15" title="Group 42731997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411480" y="676656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 spc="160">
                <a:solidFill>
                  <a:srgbClr val="38BDF8"/>
                </a:solidFill>
                <a:latin typeface="Segoe UI Semibold"/>
              </a:rPr>
              <a:t>BRIEF ABOUT THE IDEA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11480" y="850392"/>
            <a:ext cx="8321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F5F8FF"/>
                </a:solidFill>
                <a:latin typeface="Segoe UI Semibold"/>
              </a:rPr>
              <a:t>Catch the scam. Then turn it into the vaccine.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411480" y="1371600"/>
            <a:ext cx="2651760" cy="914400"/>
          </a:xfrm>
          <a:prstGeom prst="roundRect">
            <a:avLst>
              <a:gd name="adj" fmla="val 14000"/>
            </a:avLst>
          </a:prstGeom>
          <a:solidFill>
            <a:srgbClr val="0B1428">
              <a:alpha val="78000"/>
            </a:srgbClr>
          </a:solidFill>
          <a:ln w="9525">
            <a:solidFill>
              <a:srgbClr val="1D3566">
                <a:alpha val="75000"/>
              </a:srgbClr>
            </a:solidFill>
          </a:ln>
          <a:effectLst>
            <a:glow rad="101600">
              <a:srgbClr val="3B82F6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66928" y="1444752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38BDF8"/>
                </a:solidFill>
                <a:latin typeface="Segoe UI Semibold"/>
              </a:rPr>
              <a:t>₹22,495 cr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66928" y="1938528"/>
            <a:ext cx="23774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9DB0D4"/>
                </a:solidFill>
                <a:latin typeface="Segoe UI"/>
              </a:rPr>
              <a:t>lost to cyber fraud in India in 2025 (NCRP data)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291840" y="1389888"/>
            <a:ext cx="5440680" cy="896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 i="0">
                <a:solidFill>
                  <a:srgbClr val="F5F8FF"/>
                </a:solidFill>
                <a:latin typeface="Segoe UI Semibold"/>
              </a:rPr>
              <a:t>Digital-arrest, KYC and courier scams all end the same way: the victim pays a mule account.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9DB0D4"/>
                </a:solidFill>
                <a:latin typeface="Segoe UI"/>
              </a:rPr>
              <a:t>Stallwart answers those calls in English, Hindi and Hinglish, wastes the scammer's time and catches the UPI ID or bank account they want paid.</a:t>
            </a:r>
          </a:p>
        </p:txBody>
      </p:sp>
      <p:pic>
        <p:nvPicPr>
          <p:cNvPr id="78" name="Picture 77" descr="image.jpg"/>
          <p:cNvPicPr>
            <a:picLocks noChangeAspect="1"/>
          </p:cNvPicPr>
          <p:nvPr/>
        </p:nvPicPr>
        <p:blipFill>
          <a:blip r:embed="rId8"/>
          <a:srcRect l="84" r="84"/>
          <a:stretch>
            <a:fillRect/>
          </a:stretch>
        </p:blipFill>
        <p:spPr>
          <a:xfrm>
            <a:off x="425196" y="2450592"/>
            <a:ext cx="2606040" cy="1179203"/>
          </a:xfrm>
          <a:prstGeom prst="roundRect">
            <a:avLst>
              <a:gd name="adj" fmla="val 7754"/>
            </a:avLst>
          </a:prstGeom>
          <a:ln w="12700">
            <a:solidFill>
              <a:srgbClr val="38BDF8"/>
            </a:solidFill>
          </a:ln>
          <a:effectLst>
            <a:glow rad="152400">
              <a:srgbClr val="38BDF8">
                <a:alpha val="35000"/>
              </a:srgbClr>
            </a:glow>
          </a:effectLst>
        </p:spPr>
      </p:pic>
      <p:sp>
        <p:nvSpPr>
          <p:cNvPr id="79" name="Oval 78"/>
          <p:cNvSpPr/>
          <p:nvPr/>
        </p:nvSpPr>
        <p:spPr>
          <a:xfrm>
            <a:off x="516636" y="3785615"/>
            <a:ext cx="274320" cy="274320"/>
          </a:xfrm>
          <a:prstGeom prst="ellipse">
            <a:avLst/>
          </a:prstGeom>
          <a:solidFill>
            <a:srgbClr val="38BDF8"/>
          </a:solidFill>
          <a:ln>
            <a:noFill/>
          </a:ln>
          <a:effectLst>
            <a:glow rad="76200">
              <a:srgbClr val="38BDF8">
                <a:alpha val="3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16636" y="3785615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5F8FF"/>
                </a:solidFill>
                <a:latin typeface="Segoe UI Semibold"/>
              </a:rPr>
              <a:t>1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54964" y="3785615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5F8FF"/>
                </a:solidFill>
                <a:latin typeface="Segoe UI Semibold"/>
              </a:rPr>
              <a:t>Trap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70916" y="4114800"/>
            <a:ext cx="2514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9DB0D4"/>
                </a:solidFill>
                <a:latin typeface="Segoe UI"/>
              </a:rPr>
              <a:t>Ramesh, a worried 68-year-old, keeps the scammer talking and repeating every number.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049524" y="2834640"/>
            <a:ext cx="20116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38BDF8"/>
                </a:solidFill>
                <a:latin typeface="Segoe UI Semibold"/>
              </a:rPr>
              <a:t>›</a:t>
            </a:r>
          </a:p>
        </p:txBody>
      </p:sp>
      <p:pic>
        <p:nvPicPr>
          <p:cNvPr id="84" name="Picture 83" descr="image.jpg"/>
          <p:cNvPicPr>
            <a:picLocks noChangeAspect="1"/>
          </p:cNvPicPr>
          <p:nvPr/>
        </p:nvPicPr>
        <p:blipFill>
          <a:blip r:embed="rId9"/>
          <a:srcRect l="84" r="84"/>
          <a:stretch>
            <a:fillRect/>
          </a:stretch>
        </p:blipFill>
        <p:spPr>
          <a:xfrm>
            <a:off x="3268980" y="2450592"/>
            <a:ext cx="2606040" cy="1179203"/>
          </a:xfrm>
          <a:prstGeom prst="roundRect">
            <a:avLst>
              <a:gd name="adj" fmla="val 7754"/>
            </a:avLst>
          </a:prstGeom>
          <a:ln w="12700">
            <a:solidFill>
              <a:srgbClr val="8B7CFF"/>
            </a:solidFill>
          </a:ln>
          <a:effectLst>
            <a:glow rad="152400">
              <a:srgbClr val="8B7CFF">
                <a:alpha val="35000"/>
              </a:srgbClr>
            </a:glow>
          </a:effectLst>
        </p:spPr>
      </p:pic>
      <p:sp>
        <p:nvSpPr>
          <p:cNvPr id="85" name="Oval 84"/>
          <p:cNvSpPr/>
          <p:nvPr/>
        </p:nvSpPr>
        <p:spPr>
          <a:xfrm>
            <a:off x="3360420" y="3785615"/>
            <a:ext cx="274320" cy="274320"/>
          </a:xfrm>
          <a:prstGeom prst="ellipse">
            <a:avLst/>
          </a:prstGeom>
          <a:solidFill>
            <a:srgbClr val="8B7CFF"/>
          </a:solidFill>
          <a:ln>
            <a:noFill/>
          </a:ln>
          <a:effectLst>
            <a:glow rad="76200">
              <a:srgbClr val="8B7CFF">
                <a:alpha val="3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360420" y="3785615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5F8FF"/>
                </a:solidFill>
                <a:latin typeface="Segoe UI Semibold"/>
              </a:rPr>
              <a:t>2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698748" y="3785615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5F8FF"/>
                </a:solidFill>
                <a:latin typeface="Segoe UI Semibold"/>
              </a:rPr>
              <a:t>Strain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314700" y="4114800"/>
            <a:ext cx="2514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9DB0D4"/>
                </a:solidFill>
                <a:latin typeface="Segoe UI"/>
              </a:rPr>
              <a:t>The call becomes a redacted card: the script, the payment method, three warning signs.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893308" y="2834640"/>
            <a:ext cx="20116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38BDF8"/>
                </a:solidFill>
                <a:latin typeface="Segoe UI Semibold"/>
              </a:rPr>
              <a:t>›</a:t>
            </a:r>
          </a:p>
        </p:txBody>
      </p:sp>
      <p:pic>
        <p:nvPicPr>
          <p:cNvPr id="90" name="Picture 89" descr="image.jpg"/>
          <p:cNvPicPr>
            <a:picLocks noChangeAspect="1"/>
          </p:cNvPicPr>
          <p:nvPr/>
        </p:nvPicPr>
        <p:blipFill>
          <a:blip r:embed="rId10"/>
          <a:srcRect l="84" r="84"/>
          <a:stretch>
            <a:fillRect/>
          </a:stretch>
        </p:blipFill>
        <p:spPr>
          <a:xfrm>
            <a:off x="6112764" y="2450592"/>
            <a:ext cx="2606040" cy="1179203"/>
          </a:xfrm>
          <a:prstGeom prst="roundRect">
            <a:avLst>
              <a:gd name="adj" fmla="val 7754"/>
            </a:avLst>
          </a:prstGeom>
          <a:ln w="12700">
            <a:solidFill>
              <a:srgbClr val="37E0A0"/>
            </a:solidFill>
          </a:ln>
          <a:effectLst>
            <a:glow rad="152400">
              <a:srgbClr val="37E0A0">
                <a:alpha val="35000"/>
              </a:srgbClr>
            </a:glow>
          </a:effectLst>
        </p:spPr>
      </p:pic>
      <p:sp>
        <p:nvSpPr>
          <p:cNvPr id="91" name="Oval 90"/>
          <p:cNvSpPr/>
          <p:nvPr/>
        </p:nvSpPr>
        <p:spPr>
          <a:xfrm>
            <a:off x="6204204" y="3785615"/>
            <a:ext cx="274320" cy="274320"/>
          </a:xfrm>
          <a:prstGeom prst="ellipse">
            <a:avLst/>
          </a:prstGeom>
          <a:solidFill>
            <a:srgbClr val="37E0A0"/>
          </a:solidFill>
          <a:ln>
            <a:noFill/>
          </a:ln>
          <a:effectLst>
            <a:glow rad="76200">
              <a:srgbClr val="37E0A0">
                <a:alpha val="3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6204204" y="3785615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5F8FF"/>
                </a:solidFill>
                <a:latin typeface="Segoe UI Semibold"/>
              </a:rPr>
              <a:t>3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542532" y="3785615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5F8FF"/>
                </a:solidFill>
                <a:latin typeface="Segoe UI Semibold"/>
              </a:rPr>
              <a:t>Vaccine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158484" y="4114800"/>
            <a:ext cx="2514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9DB0D4"/>
                </a:solidFill>
                <a:latin typeface="Segoe UI"/>
              </a:rPr>
              <a:t>That script becomes a consented practice call for a parent, stopped before any detail leaks.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411480" y="4681728"/>
            <a:ext cx="8321040" cy="274320"/>
          </a:xfrm>
          <a:prstGeom prst="roundRect">
            <a:avLst>
              <a:gd name="adj" fmla="val 50000"/>
            </a:avLst>
          </a:prstGeom>
          <a:solidFill>
            <a:srgbClr val="3B82F6">
              <a:alpha val="14000"/>
            </a:srgbClr>
          </a:solidFill>
          <a:ln w="9525">
            <a:solidFill>
              <a:srgbClr val="3B82F6">
                <a:alpha val="5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548640" y="4681728"/>
            <a:ext cx="80924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38BDF8"/>
                </a:solidFill>
                <a:latin typeface="Segoe UI Semibold"/>
              </a:rPr>
              <a:t>Why now  </a:t>
            </a:r>
            <a:r>
              <a:rPr sz="900" b="0" i="0">
                <a:solidFill>
                  <a:srgbClr val="F5F8FF"/>
                </a:solidFill>
                <a:latin typeface="Segoe UI"/>
              </a:rPr>
              <a:t>The RBI's draft mule-account SOP means banks will need evidence leads. Ours are leads, never verdicts.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4070F"/>
        </a:solidFill>
        <a:effectLst/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Picture 78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76" name="Google Shape;76;p16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6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6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411480" y="676656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 spc="160">
                <a:solidFill>
                  <a:srgbClr val="38BDF8"/>
                </a:solidFill>
                <a:latin typeface="Segoe UI Semibold"/>
              </a:rPr>
              <a:t>OPPORTUNITIES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11480" y="850392"/>
            <a:ext cx="8321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F5F8FF"/>
                </a:solidFill>
                <a:latin typeface="Segoe UI Semibold"/>
              </a:rPr>
              <a:t>Decoys exist. Protection for the next family does not.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411480" y="1371600"/>
            <a:ext cx="2697480" cy="2542032"/>
          </a:xfrm>
          <a:prstGeom prst="roundRect">
            <a:avLst>
              <a:gd name="adj" fmla="val 5035"/>
            </a:avLst>
          </a:prstGeom>
          <a:solidFill>
            <a:srgbClr val="0B1428">
              <a:alpha val="78000"/>
            </a:srgbClr>
          </a:solidFill>
          <a:ln w="9525">
            <a:solidFill>
              <a:srgbClr val="1D3566">
                <a:alpha val="75000"/>
              </a:srgbClr>
            </a:solidFill>
          </a:ln>
          <a:effectLst>
            <a:glow rad="76200">
              <a:srgbClr val="38BDF8">
                <a:alpha val="14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594360" y="1371600"/>
            <a:ext cx="640080" cy="4572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594360" y="1536192"/>
            <a:ext cx="2331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 i="0" spc="120">
                <a:solidFill>
                  <a:srgbClr val="38BDF8"/>
                </a:solidFill>
                <a:latin typeface="Segoe UI Semibold"/>
              </a:rPr>
              <a:t>DIFFERENT FROM WHAT EXISTS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94360" y="1755648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550" b="1" i="0">
                <a:solidFill>
                  <a:srgbClr val="F5F8FF"/>
                </a:solidFill>
                <a:latin typeface="Segoe UI Semibold"/>
              </a:rPr>
              <a:t>Built for India's scripts</a:t>
            </a:r>
          </a:p>
        </p:txBody>
      </p:sp>
      <p:sp>
        <p:nvSpPr>
          <p:cNvPr id="86" name="Oval 85"/>
          <p:cNvSpPr/>
          <p:nvPr/>
        </p:nvSpPr>
        <p:spPr>
          <a:xfrm>
            <a:off x="594360" y="2350008"/>
            <a:ext cx="82296" cy="82296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58952" y="2286000"/>
            <a:ext cx="216712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C9D6F0"/>
                </a:solidFill>
                <a:latin typeface="Segoe UI"/>
              </a:rPr>
              <a:t>Hindi and Hinglish first</a:t>
            </a:r>
          </a:p>
        </p:txBody>
      </p:sp>
      <p:sp>
        <p:nvSpPr>
          <p:cNvPr id="88" name="Oval 87"/>
          <p:cNvSpPr/>
          <p:nvPr/>
        </p:nvSpPr>
        <p:spPr>
          <a:xfrm>
            <a:off x="594360" y="2779775"/>
            <a:ext cx="82296" cy="82296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758952" y="2715768"/>
            <a:ext cx="216712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C9D6F0"/>
                </a:solidFill>
                <a:latin typeface="Segoe UI"/>
              </a:rPr>
              <a:t>Digital arrest, KYC, courier, SIM block</a:t>
            </a:r>
          </a:p>
        </p:txBody>
      </p:sp>
      <p:sp>
        <p:nvSpPr>
          <p:cNvPr id="90" name="Oval 89"/>
          <p:cNvSpPr/>
          <p:nvPr/>
        </p:nvSpPr>
        <p:spPr>
          <a:xfrm>
            <a:off x="594360" y="3209543"/>
            <a:ext cx="82296" cy="82296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758952" y="3145535"/>
            <a:ext cx="216712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C9D6F0"/>
                </a:solidFill>
                <a:latin typeface="Segoe UI"/>
              </a:rPr>
              <a:t>Payee read back and confirmed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94360" y="3584448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 i="1">
                <a:solidFill>
                  <a:srgbClr val="6F84AE"/>
                </a:solidFill>
                <a:latin typeface="Segoe UI"/>
              </a:rPr>
              <a:t>Voice decoys exist (Apate.ai). We do not claim to have invented them.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3223260" y="1371600"/>
            <a:ext cx="2697480" cy="2542032"/>
          </a:xfrm>
          <a:prstGeom prst="roundRect">
            <a:avLst>
              <a:gd name="adj" fmla="val 5035"/>
            </a:avLst>
          </a:prstGeom>
          <a:solidFill>
            <a:srgbClr val="0B1428">
              <a:alpha val="78000"/>
            </a:srgbClr>
          </a:solidFill>
          <a:ln w="9525">
            <a:solidFill>
              <a:srgbClr val="1D3566">
                <a:alpha val="75000"/>
              </a:srgbClr>
            </a:solidFill>
          </a:ln>
          <a:effectLst>
            <a:glow rad="76200">
              <a:srgbClr val="37E0A0">
                <a:alpha val="14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3406140" y="1371600"/>
            <a:ext cx="640080" cy="45720"/>
          </a:xfrm>
          <a:prstGeom prst="rect">
            <a:avLst/>
          </a:prstGeom>
          <a:solidFill>
            <a:srgbClr val="37E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3406140" y="1536192"/>
            <a:ext cx="2331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 i="0" spc="120">
                <a:solidFill>
                  <a:srgbClr val="37E0A0"/>
                </a:solidFill>
                <a:latin typeface="Segoe UI Semibold"/>
              </a:rPr>
              <a:t>HOW IT SOLVES THE PROBLEM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3406140" y="1755648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550" b="1" i="0">
                <a:solidFill>
                  <a:srgbClr val="F5F8FF"/>
                </a:solidFill>
                <a:latin typeface="Segoe UI Semibold"/>
              </a:rPr>
              <a:t>Time wasted, payee caught</a:t>
            </a:r>
          </a:p>
        </p:txBody>
      </p:sp>
      <p:sp>
        <p:nvSpPr>
          <p:cNvPr id="97" name="Oval 96"/>
          <p:cNvSpPr/>
          <p:nvPr/>
        </p:nvSpPr>
        <p:spPr>
          <a:xfrm>
            <a:off x="3406140" y="2350008"/>
            <a:ext cx="82296" cy="82296"/>
          </a:xfrm>
          <a:prstGeom prst="ellipse">
            <a:avLst/>
          </a:prstGeom>
          <a:solidFill>
            <a:srgbClr val="37E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3570732" y="2286000"/>
            <a:ext cx="216712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C9D6F0"/>
                </a:solidFill>
                <a:latin typeface="Segoe UI"/>
              </a:rPr>
              <a:t>Every minute on Ramesh is a minute not spent on a victim</a:t>
            </a:r>
          </a:p>
        </p:txBody>
      </p:sp>
      <p:sp>
        <p:nvSpPr>
          <p:cNvPr id="99" name="Oval 98"/>
          <p:cNvSpPr/>
          <p:nvPr/>
        </p:nvSpPr>
        <p:spPr>
          <a:xfrm>
            <a:off x="3406140" y="2779775"/>
            <a:ext cx="82296" cy="82296"/>
          </a:xfrm>
          <a:prstGeom prst="ellipse">
            <a:avLst/>
          </a:prstGeom>
          <a:solidFill>
            <a:srgbClr val="37E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3570732" y="2715768"/>
            <a:ext cx="216712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C9D6F0"/>
                </a:solidFill>
                <a:latin typeface="Segoe UI"/>
              </a:rPr>
              <a:t>UPI ID or account caught, so banks can act sooner</a:t>
            </a:r>
          </a:p>
        </p:txBody>
      </p:sp>
      <p:sp>
        <p:nvSpPr>
          <p:cNvPr id="101" name="Oval 100"/>
          <p:cNvSpPr/>
          <p:nvPr/>
        </p:nvSpPr>
        <p:spPr>
          <a:xfrm>
            <a:off x="3406140" y="3209543"/>
            <a:ext cx="82296" cy="82296"/>
          </a:xfrm>
          <a:prstGeom prst="ellipse">
            <a:avLst/>
          </a:prstGeom>
          <a:solidFill>
            <a:srgbClr val="37E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3570732" y="3145535"/>
            <a:ext cx="216712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C9D6F0"/>
                </a:solidFill>
                <a:latin typeface="Segoe UI"/>
              </a:rPr>
              <a:t>Each script becomes a strain and a drill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6035040" y="1371600"/>
            <a:ext cx="2697480" cy="2542032"/>
          </a:xfrm>
          <a:prstGeom prst="roundRect">
            <a:avLst>
              <a:gd name="adj" fmla="val 5035"/>
            </a:avLst>
          </a:prstGeom>
          <a:solidFill>
            <a:srgbClr val="0B1428">
              <a:alpha val="78000"/>
            </a:srgbClr>
          </a:solidFill>
          <a:ln w="9525">
            <a:solidFill>
              <a:srgbClr val="1D3566">
                <a:alpha val="75000"/>
              </a:srgbClr>
            </a:solidFill>
          </a:ln>
          <a:effectLst>
            <a:glow rad="76200">
              <a:srgbClr val="8B7CFF">
                <a:alpha val="14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6217920" y="1371600"/>
            <a:ext cx="640080" cy="45720"/>
          </a:xfrm>
          <a:prstGeom prst="rect">
            <a:avLst/>
          </a:prstGeom>
          <a:solidFill>
            <a:srgbClr val="8B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217920" y="1536192"/>
            <a:ext cx="2331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 i="0" spc="120">
                <a:solidFill>
                  <a:srgbClr val="8B7CFF"/>
                </a:solidFill>
                <a:latin typeface="Segoe UI Semibold"/>
              </a:rPr>
              <a:t>OUR USP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6217920" y="1755648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550" b="1" i="0">
                <a:solidFill>
                  <a:srgbClr val="F5F8FF"/>
                </a:solidFill>
                <a:latin typeface="Segoe UI Semibold"/>
              </a:rPr>
              <a:t>Trap, Strain, Vaccine</a:t>
            </a:r>
          </a:p>
        </p:txBody>
      </p:sp>
      <p:sp>
        <p:nvSpPr>
          <p:cNvPr id="107" name="Oval 106"/>
          <p:cNvSpPr/>
          <p:nvPr/>
        </p:nvSpPr>
        <p:spPr>
          <a:xfrm>
            <a:off x="6217920" y="2350008"/>
            <a:ext cx="82296" cy="82296"/>
          </a:xfrm>
          <a:prstGeom prst="ellipse">
            <a:avLst/>
          </a:prstGeom>
          <a:solidFill>
            <a:srgbClr val="8B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6382512" y="2286000"/>
            <a:ext cx="216712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C9D6F0"/>
                </a:solidFill>
                <a:latin typeface="Segoe UI"/>
              </a:rPr>
              <a:t>Every scam protects the next family</a:t>
            </a:r>
          </a:p>
        </p:txBody>
      </p:sp>
      <p:sp>
        <p:nvSpPr>
          <p:cNvPr id="109" name="Oval 108"/>
          <p:cNvSpPr/>
          <p:nvPr/>
        </p:nvSpPr>
        <p:spPr>
          <a:xfrm>
            <a:off x="6217920" y="2779775"/>
            <a:ext cx="82296" cy="82296"/>
          </a:xfrm>
          <a:prstGeom prst="ellipse">
            <a:avLst/>
          </a:prstGeom>
          <a:solidFill>
            <a:srgbClr val="8B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6382512" y="2715768"/>
            <a:ext cx="216712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C9D6F0"/>
                </a:solidFill>
                <a:latin typeface="Segoe UI"/>
              </a:rPr>
              <a:t>Two checks before anything is confirmed</a:t>
            </a:r>
          </a:p>
        </p:txBody>
      </p:sp>
      <p:sp>
        <p:nvSpPr>
          <p:cNvPr id="111" name="Oval 110"/>
          <p:cNvSpPr/>
          <p:nvPr/>
        </p:nvSpPr>
        <p:spPr>
          <a:xfrm>
            <a:off x="6217920" y="3209543"/>
            <a:ext cx="82296" cy="82296"/>
          </a:xfrm>
          <a:prstGeom prst="ellipse">
            <a:avLst/>
          </a:prstGeom>
          <a:solidFill>
            <a:srgbClr val="8B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82512" y="3145535"/>
            <a:ext cx="216712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C9D6F0"/>
                </a:solidFill>
                <a:latin typeface="Segoe UI"/>
              </a:rPr>
              <a:t>A fresh persona on every call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11480" y="4114800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 spc="160">
                <a:solidFill>
                  <a:srgbClr val="FBBF24"/>
                </a:solidFill>
                <a:latin typeface="Segoe UI Semibold"/>
              </a:rPr>
              <a:t>WHO BUYS IT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411480" y="4370832"/>
            <a:ext cx="1533265" cy="310896"/>
          </a:xfrm>
          <a:prstGeom prst="roundRect">
            <a:avLst>
              <a:gd name="adj" fmla="val 50000"/>
            </a:avLst>
          </a:prstGeom>
          <a:solidFill>
            <a:srgbClr val="FBBF24">
              <a:alpha val="14000"/>
            </a:srgbClr>
          </a:solidFill>
          <a:ln w="9525">
            <a:solidFill>
              <a:srgbClr val="FBBF24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411480" y="4370832"/>
            <a:ext cx="1533265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F5F8FF"/>
                </a:solidFill>
                <a:latin typeface="Segoe UI"/>
              </a:rPr>
              <a:t>Bank fraud teams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2054473" y="4370832"/>
            <a:ext cx="1898111" cy="310896"/>
          </a:xfrm>
          <a:prstGeom prst="roundRect">
            <a:avLst>
              <a:gd name="adj" fmla="val 50000"/>
            </a:avLst>
          </a:prstGeom>
          <a:solidFill>
            <a:srgbClr val="FBBF24">
              <a:alpha val="14000"/>
            </a:srgbClr>
          </a:solidFill>
          <a:ln w="9525">
            <a:solidFill>
              <a:srgbClr val="FBBF24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2054473" y="4370832"/>
            <a:ext cx="1898111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F5F8FF"/>
                </a:solidFill>
                <a:latin typeface="Segoe UI"/>
              </a:rPr>
              <a:t>UPI apps and fintechs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4062313" y="4370832"/>
            <a:ext cx="803574" cy="310896"/>
          </a:xfrm>
          <a:prstGeom prst="roundRect">
            <a:avLst>
              <a:gd name="adj" fmla="val 50000"/>
            </a:avLst>
          </a:prstGeom>
          <a:solidFill>
            <a:srgbClr val="FBBF24">
              <a:alpha val="14000"/>
            </a:srgbClr>
          </a:solidFill>
          <a:ln w="9525">
            <a:solidFill>
              <a:srgbClr val="FBBF24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062313" y="4370832"/>
            <a:ext cx="803574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F5F8FF"/>
                </a:solidFill>
                <a:latin typeface="Segoe UI"/>
              </a:rPr>
              <a:t>Telcos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4975616" y="4370832"/>
            <a:ext cx="2189988" cy="310896"/>
          </a:xfrm>
          <a:prstGeom prst="roundRect">
            <a:avLst>
              <a:gd name="adj" fmla="val 50000"/>
            </a:avLst>
          </a:prstGeom>
          <a:solidFill>
            <a:srgbClr val="FBBF24">
              <a:alpha val="14000"/>
            </a:srgbClr>
          </a:solidFill>
          <a:ln w="9525">
            <a:solidFill>
              <a:srgbClr val="FBBF24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4975616" y="4370832"/>
            <a:ext cx="2189988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F5F8FF"/>
                </a:solidFill>
                <a:latin typeface="Segoe UI"/>
              </a:rPr>
              <a:t>I4C and state cyber cells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4070F"/>
        </a:solidFill>
        <a:effectLst/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Picture 86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84" name="Google Shape;84;p17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7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7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411480" y="676656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 spc="160">
                <a:solidFill>
                  <a:srgbClr val="38BDF8"/>
                </a:solidFill>
                <a:latin typeface="Segoe UI Semibold"/>
              </a:rPr>
              <a:t>LIST OF FEATURES OFFERED BY THE SOLUTION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11480" y="850392"/>
            <a:ext cx="8321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F5F8FF"/>
                </a:solidFill>
                <a:latin typeface="Segoe UI Semibold"/>
              </a:rPr>
              <a:t>Everything the loop needs, in one product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411480" y="1371600"/>
            <a:ext cx="1984248" cy="1572768"/>
          </a:xfrm>
          <a:prstGeom prst="roundRect">
            <a:avLst>
              <a:gd name="adj" fmla="val 8139"/>
            </a:avLst>
          </a:prstGeom>
          <a:solidFill>
            <a:srgbClr val="0B1428">
              <a:alpha val="78000"/>
            </a:srgbClr>
          </a:solidFill>
          <a:ln w="9525">
            <a:solidFill>
              <a:srgbClr val="1D3566">
                <a:alpha val="75000"/>
              </a:srgbClr>
            </a:solidFill>
          </a:ln>
          <a:effectLst>
            <a:glow rad="63500">
              <a:srgbClr val="38BDF8">
                <a:alpha val="1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411480" y="1554480"/>
            <a:ext cx="45720" cy="4572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576072" y="1554480"/>
            <a:ext cx="310896" cy="310896"/>
          </a:xfrm>
          <a:prstGeom prst="ellipse">
            <a:avLst/>
          </a:prstGeom>
          <a:solidFill>
            <a:srgbClr val="38BDF8"/>
          </a:solidFill>
          <a:ln>
            <a:noFill/>
          </a:ln>
          <a:effectLst>
            <a:glow rad="76200">
              <a:srgbClr val="38BDF8">
                <a:alpha val="3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576072" y="1554480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5F8FF"/>
                </a:solidFill>
                <a:latin typeface="Segoe UI Semibold"/>
              </a:rPr>
              <a:t>1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76072" y="1975104"/>
            <a:ext cx="17099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F5F8FF"/>
                </a:solidFill>
                <a:latin typeface="Segoe UI Semibold"/>
              </a:rPr>
              <a:t>Live voice decoy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76072" y="2267712"/>
            <a:ext cx="170992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9DB0D4"/>
                </a:solidFill>
                <a:latin typeface="Segoe UI"/>
              </a:rPr>
              <a:t>Gemini Live native audio, barge-in, a fresh persona every call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2523744" y="1371600"/>
            <a:ext cx="1984248" cy="1572768"/>
          </a:xfrm>
          <a:prstGeom prst="roundRect">
            <a:avLst>
              <a:gd name="adj" fmla="val 8139"/>
            </a:avLst>
          </a:prstGeom>
          <a:solidFill>
            <a:srgbClr val="0B1428">
              <a:alpha val="78000"/>
            </a:srgbClr>
          </a:solidFill>
          <a:ln w="9525">
            <a:solidFill>
              <a:srgbClr val="1D3566">
                <a:alpha val="75000"/>
              </a:srgbClr>
            </a:solidFill>
          </a:ln>
          <a:effectLst>
            <a:glow rad="63500">
              <a:srgbClr val="3B82F6">
                <a:alpha val="1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2523744" y="1554480"/>
            <a:ext cx="45720" cy="4572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2688336" y="1554480"/>
            <a:ext cx="310896" cy="310896"/>
          </a:xfrm>
          <a:prstGeom prst="ellipse">
            <a:avLst/>
          </a:prstGeom>
          <a:solidFill>
            <a:srgbClr val="3B82F6"/>
          </a:solidFill>
          <a:ln>
            <a:noFill/>
          </a:ln>
          <a:effectLst>
            <a:glow rad="76200">
              <a:srgbClr val="3B82F6">
                <a:alpha val="3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2688336" y="1554480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5F8FF"/>
                </a:solidFill>
                <a:latin typeface="Segoe UI Semibold"/>
              </a:rPr>
              <a:t>2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2688336" y="1975104"/>
            <a:ext cx="17099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F5F8FF"/>
                </a:solidFill>
                <a:latin typeface="Segoe UI Semibold"/>
              </a:rPr>
              <a:t>English live transcript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2688336" y="2267712"/>
            <a:ext cx="170992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9DB0D4"/>
                </a:solidFill>
                <a:latin typeface="Segoe UI"/>
              </a:rPr>
              <a:t>Hindi and Hinglish translated on the fly for every viewer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4636008" y="1371600"/>
            <a:ext cx="1984248" cy="1572768"/>
          </a:xfrm>
          <a:prstGeom prst="roundRect">
            <a:avLst>
              <a:gd name="adj" fmla="val 8139"/>
            </a:avLst>
          </a:prstGeom>
          <a:solidFill>
            <a:srgbClr val="0B1428">
              <a:alpha val="78000"/>
            </a:srgbClr>
          </a:solidFill>
          <a:ln w="9525">
            <a:solidFill>
              <a:srgbClr val="1D3566">
                <a:alpha val="75000"/>
              </a:srgbClr>
            </a:solidFill>
          </a:ln>
          <a:effectLst>
            <a:glow rad="63500">
              <a:srgbClr val="37E0A0">
                <a:alpha val="1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4636008" y="1554480"/>
            <a:ext cx="45720" cy="457200"/>
          </a:xfrm>
          <a:prstGeom prst="rect">
            <a:avLst/>
          </a:prstGeom>
          <a:solidFill>
            <a:srgbClr val="37E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4800600" y="1554480"/>
            <a:ext cx="310896" cy="310896"/>
          </a:xfrm>
          <a:prstGeom prst="ellipse">
            <a:avLst/>
          </a:prstGeom>
          <a:solidFill>
            <a:srgbClr val="37E0A0"/>
          </a:solidFill>
          <a:ln>
            <a:noFill/>
          </a:ln>
          <a:effectLst>
            <a:glow rad="76200">
              <a:srgbClr val="37E0A0">
                <a:alpha val="3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4800600" y="1554480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5F8FF"/>
                </a:solidFill>
                <a:latin typeface="Segoe UI Semibold"/>
              </a:rPr>
              <a:t>3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4800600" y="1975104"/>
            <a:ext cx="17099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F5F8FF"/>
                </a:solidFill>
                <a:latin typeface="Segoe UI Semibold"/>
              </a:rPr>
              <a:t>Two-layer extraction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4800600" y="2267712"/>
            <a:ext cx="170992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9DB0D4"/>
                </a:solidFill>
                <a:latin typeface="Segoe UI"/>
              </a:rPr>
              <a:t>Live tool calls plus a Flash verifier. Validators decide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6748272" y="1371600"/>
            <a:ext cx="1984248" cy="1572768"/>
          </a:xfrm>
          <a:prstGeom prst="roundRect">
            <a:avLst>
              <a:gd name="adj" fmla="val 8139"/>
            </a:avLst>
          </a:prstGeom>
          <a:solidFill>
            <a:srgbClr val="0B1428">
              <a:alpha val="78000"/>
            </a:srgbClr>
          </a:solidFill>
          <a:ln w="9525">
            <a:solidFill>
              <a:srgbClr val="1D3566">
                <a:alpha val="75000"/>
              </a:srgbClr>
            </a:solidFill>
          </a:ln>
          <a:effectLst>
            <a:glow rad="63500">
              <a:srgbClr val="8B7CFF">
                <a:alpha val="1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6748272" y="1554480"/>
            <a:ext cx="45720" cy="457200"/>
          </a:xfrm>
          <a:prstGeom prst="rect">
            <a:avLst/>
          </a:prstGeom>
          <a:solidFill>
            <a:srgbClr val="8B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6912864" y="1554480"/>
            <a:ext cx="310896" cy="310896"/>
          </a:xfrm>
          <a:prstGeom prst="ellipse">
            <a:avLst/>
          </a:prstGeom>
          <a:solidFill>
            <a:srgbClr val="8B7CFF"/>
          </a:solidFill>
          <a:ln>
            <a:noFill/>
          </a:ln>
          <a:effectLst>
            <a:glow rad="76200">
              <a:srgbClr val="8B7CFF">
                <a:alpha val="3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6912864" y="1554480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5F8FF"/>
                </a:solidFill>
                <a:latin typeface="Segoe UI Semibold"/>
              </a:rPr>
              <a:t>4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6912864" y="1975104"/>
            <a:ext cx="17099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F5F8FF"/>
                </a:solidFill>
                <a:latin typeface="Segoe UI Semibold"/>
              </a:rPr>
              <a:t>Live dashboard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6912864" y="2267712"/>
            <a:ext cx="170992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9DB0D4"/>
                </a:solidFill>
                <a:latin typeface="Segoe UI"/>
              </a:rPr>
              <a:t>Scam type, trigger phrases, script stage, reply speed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411480" y="3072384"/>
            <a:ext cx="1984248" cy="1572768"/>
          </a:xfrm>
          <a:prstGeom prst="roundRect">
            <a:avLst>
              <a:gd name="adj" fmla="val 8139"/>
            </a:avLst>
          </a:prstGeom>
          <a:solidFill>
            <a:srgbClr val="0B1428">
              <a:alpha val="78000"/>
            </a:srgbClr>
          </a:solidFill>
          <a:ln w="9525">
            <a:solidFill>
              <a:srgbClr val="1D3566">
                <a:alpha val="75000"/>
              </a:srgbClr>
            </a:solidFill>
          </a:ln>
          <a:effectLst>
            <a:glow rad="63500">
              <a:srgbClr val="FBBF24">
                <a:alpha val="1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411480" y="3255264"/>
            <a:ext cx="45720" cy="4572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576072" y="3255264"/>
            <a:ext cx="310896" cy="310896"/>
          </a:xfrm>
          <a:prstGeom prst="ellipse">
            <a:avLst/>
          </a:prstGeom>
          <a:solidFill>
            <a:srgbClr val="FBBF24"/>
          </a:solidFill>
          <a:ln>
            <a:noFill/>
          </a:ln>
          <a:effectLst>
            <a:glow rad="76200">
              <a:srgbClr val="FBBF24">
                <a:alpha val="3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576072" y="3255264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5F8FF"/>
                </a:solidFill>
                <a:latin typeface="Segoe UI Semibold"/>
              </a:rPr>
              <a:t>5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576072" y="3675887"/>
            <a:ext cx="17099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F5F8FF"/>
                </a:solidFill>
                <a:latin typeface="Segoe UI Semibold"/>
              </a:rPr>
              <a:t>Evidence pack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576072" y="3968496"/>
            <a:ext cx="170992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9DB0D4"/>
                </a:solidFill>
                <a:latin typeface="Segoe UI"/>
              </a:rPr>
              <a:t>Stereo recording, click-to-seek transcript, JSON or PDF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2523744" y="3072384"/>
            <a:ext cx="1984248" cy="1572768"/>
          </a:xfrm>
          <a:prstGeom prst="roundRect">
            <a:avLst>
              <a:gd name="adj" fmla="val 8139"/>
            </a:avLst>
          </a:prstGeom>
          <a:solidFill>
            <a:srgbClr val="0B1428">
              <a:alpha val="78000"/>
            </a:srgbClr>
          </a:solidFill>
          <a:ln w="9525">
            <a:solidFill>
              <a:srgbClr val="1D3566">
                <a:alpha val="75000"/>
              </a:srgbClr>
            </a:solidFill>
          </a:ln>
          <a:effectLst>
            <a:glow rad="63500">
              <a:srgbClr val="FB7185">
                <a:alpha val="1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2523744" y="3255264"/>
            <a:ext cx="45720" cy="457200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2688336" y="3255264"/>
            <a:ext cx="310896" cy="310896"/>
          </a:xfrm>
          <a:prstGeom prst="ellipse">
            <a:avLst/>
          </a:prstGeom>
          <a:solidFill>
            <a:srgbClr val="FB7185"/>
          </a:solidFill>
          <a:ln>
            <a:noFill/>
          </a:ln>
          <a:effectLst>
            <a:glow rad="76200">
              <a:srgbClr val="FB7185">
                <a:alpha val="3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2688336" y="3255264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5F8FF"/>
                </a:solidFill>
                <a:latin typeface="Segoe UI Semibold"/>
              </a:rPr>
              <a:t>6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2688336" y="3675887"/>
            <a:ext cx="17099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F5F8FF"/>
                </a:solidFill>
                <a:latin typeface="Segoe UI Semibold"/>
              </a:rPr>
              <a:t>Strain cards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2688336" y="3968496"/>
            <a:ext cx="170992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9DB0D4"/>
                </a:solidFill>
                <a:latin typeface="Segoe UI"/>
              </a:rPr>
              <a:t>Redacted script, payment method, three warning signs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4636008" y="3072384"/>
            <a:ext cx="1984248" cy="1572768"/>
          </a:xfrm>
          <a:prstGeom prst="roundRect">
            <a:avLst>
              <a:gd name="adj" fmla="val 8139"/>
            </a:avLst>
          </a:prstGeom>
          <a:solidFill>
            <a:srgbClr val="0B1428">
              <a:alpha val="78000"/>
            </a:srgbClr>
          </a:solidFill>
          <a:ln w="9525">
            <a:solidFill>
              <a:srgbClr val="1D3566">
                <a:alpha val="75000"/>
              </a:srgbClr>
            </a:solidFill>
          </a:ln>
          <a:effectLst>
            <a:glow rad="63500">
              <a:srgbClr val="37E0A0">
                <a:alpha val="1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4636008" y="3255264"/>
            <a:ext cx="45720" cy="457200"/>
          </a:xfrm>
          <a:prstGeom prst="rect">
            <a:avLst/>
          </a:prstGeom>
          <a:solidFill>
            <a:srgbClr val="37E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4800600" y="3255264"/>
            <a:ext cx="310896" cy="310896"/>
          </a:xfrm>
          <a:prstGeom prst="ellipse">
            <a:avLst/>
          </a:prstGeom>
          <a:solidFill>
            <a:srgbClr val="37E0A0"/>
          </a:solidFill>
          <a:ln>
            <a:noFill/>
          </a:ln>
          <a:effectLst>
            <a:glow rad="76200">
              <a:srgbClr val="37E0A0">
                <a:alpha val="3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4800600" y="3255264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5F8FF"/>
                </a:solidFill>
                <a:latin typeface="Segoe UI Semibold"/>
              </a:rPr>
              <a:t>7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4800600" y="3675887"/>
            <a:ext cx="17099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F5F8FF"/>
                </a:solidFill>
                <a:latin typeface="Segoe UI Semibold"/>
              </a:rPr>
              <a:t>Family drills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4800600" y="3968496"/>
            <a:ext cx="170992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9DB0D4"/>
                </a:solidFill>
                <a:latin typeface="Segoe UI"/>
              </a:rPr>
              <a:t>A consented practice call from that day's real script</a:t>
            </a:r>
          </a:p>
        </p:txBody>
      </p:sp>
      <p:sp>
        <p:nvSpPr>
          <p:cNvPr id="132" name="Rounded Rectangle 131"/>
          <p:cNvSpPr/>
          <p:nvPr/>
        </p:nvSpPr>
        <p:spPr>
          <a:xfrm>
            <a:off x="6748272" y="3072384"/>
            <a:ext cx="1984248" cy="1572768"/>
          </a:xfrm>
          <a:prstGeom prst="roundRect">
            <a:avLst>
              <a:gd name="adj" fmla="val 8139"/>
            </a:avLst>
          </a:prstGeom>
          <a:solidFill>
            <a:srgbClr val="0B1428">
              <a:alpha val="78000"/>
            </a:srgbClr>
          </a:solidFill>
          <a:ln w="9525">
            <a:solidFill>
              <a:srgbClr val="1D3566">
                <a:alpha val="75000"/>
              </a:srgbClr>
            </a:solidFill>
          </a:ln>
          <a:effectLst>
            <a:glow rad="63500">
              <a:srgbClr val="38BDF8">
                <a:alpha val="1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6748272" y="3255264"/>
            <a:ext cx="45720" cy="4572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6912864" y="3255264"/>
            <a:ext cx="310896" cy="310896"/>
          </a:xfrm>
          <a:prstGeom prst="ellipse">
            <a:avLst/>
          </a:prstGeom>
          <a:solidFill>
            <a:srgbClr val="38BDF8"/>
          </a:solidFill>
          <a:ln>
            <a:noFill/>
          </a:ln>
          <a:effectLst>
            <a:glow rad="76200">
              <a:srgbClr val="38BDF8">
                <a:alpha val="3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6912864" y="3255264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5F8FF"/>
                </a:solidFill>
                <a:latin typeface="Segoe UI Semibold"/>
              </a:rPr>
              <a:t>8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6912864" y="3675887"/>
            <a:ext cx="17099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F5F8FF"/>
                </a:solidFill>
                <a:latin typeface="Segoe UI Semibold"/>
              </a:rPr>
              <a:t>Guardrails and replays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6912864" y="3968496"/>
            <a:ext cx="170992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9DB0D4"/>
                </a:solidFill>
                <a:latin typeface="Segoe UI"/>
              </a:rPr>
              <a:t>Cost caps, kill switch, two-minute replays with no mic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4070F"/>
        </a:solidFill>
        <a:effectLst/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Picture 94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92" name="Google Shape;92;p18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8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8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411480" y="676656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 spc="160">
                <a:solidFill>
                  <a:srgbClr val="38BDF8"/>
                </a:solidFill>
                <a:latin typeface="Segoe UI Semibold"/>
              </a:rPr>
              <a:t>PROCESS FLOW DIAGRAM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11480" y="850392"/>
            <a:ext cx="8321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F5F8FF"/>
                </a:solidFill>
                <a:latin typeface="Segoe UI Semibold"/>
              </a:rPr>
              <a:t>From the first ring to a protected parent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411480" y="14173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 spc="160">
                <a:solidFill>
                  <a:srgbClr val="38BDF8"/>
                </a:solidFill>
                <a:latin typeface="Segoe UI Semibold"/>
              </a:rPr>
              <a:t>TRAP · ONE SCAM CALL</a:t>
            </a:r>
          </a:p>
        </p:txBody>
      </p:sp>
      <p:sp>
        <p:nvSpPr>
          <p:cNvPr id="99" name="Oval 98"/>
          <p:cNvSpPr/>
          <p:nvPr/>
        </p:nvSpPr>
        <p:spPr>
          <a:xfrm>
            <a:off x="667512" y="1828800"/>
            <a:ext cx="493776" cy="493776"/>
          </a:xfrm>
          <a:prstGeom prst="ellipse">
            <a:avLst/>
          </a:prstGeom>
          <a:solidFill>
            <a:srgbClr val="38BDF8"/>
          </a:solidFill>
          <a:ln>
            <a:noFill/>
          </a:ln>
          <a:effectLst>
            <a:glow rad="101600">
              <a:srgbClr val="38BDF8">
                <a:alpha val="4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667512" y="1828800"/>
            <a:ext cx="493776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5F8FF"/>
                </a:solidFill>
                <a:latin typeface="Segoe UI Semibold"/>
              </a:rPr>
              <a:t>1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256032" y="2404872"/>
            <a:ext cx="1316736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900" b="0" i="0">
                <a:solidFill>
                  <a:srgbClr val="C9D6F0"/>
                </a:solidFill>
                <a:latin typeface="Segoe UI"/>
              </a:rPr>
              <a:t>Scammer calls</a:t>
            </a:r>
          </a:p>
        </p:txBody>
      </p:sp>
      <p:cxnSp>
        <p:nvCxnSpPr>
          <p:cNvPr id="102" name="Connector 101"/>
          <p:cNvCxnSpPr/>
          <p:nvPr/>
        </p:nvCxnSpPr>
        <p:spPr>
          <a:xfrm>
            <a:off x="1216152" y="2075688"/>
            <a:ext cx="859536" cy="0"/>
          </a:xfrm>
          <a:prstGeom prst="line">
            <a:avLst/>
          </a:prstGeom>
          <a:ln w="19050">
            <a:solidFill>
              <a:srgbClr val="38BDF8">
                <a:alpha val="80000"/>
              </a:srgbClr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Oval 102"/>
          <p:cNvSpPr/>
          <p:nvPr/>
        </p:nvSpPr>
        <p:spPr>
          <a:xfrm>
            <a:off x="2130552" y="1828800"/>
            <a:ext cx="493776" cy="493776"/>
          </a:xfrm>
          <a:prstGeom prst="ellipse">
            <a:avLst/>
          </a:prstGeom>
          <a:solidFill>
            <a:srgbClr val="38BDF8"/>
          </a:solidFill>
          <a:ln>
            <a:noFill/>
          </a:ln>
          <a:effectLst>
            <a:glow rad="101600">
              <a:srgbClr val="38BDF8">
                <a:alpha val="4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2130552" y="1828800"/>
            <a:ext cx="493776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5F8FF"/>
                </a:solidFill>
                <a:latin typeface="Segoe UI Semibold"/>
              </a:rPr>
              <a:t>2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719072" y="2404872"/>
            <a:ext cx="1316736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900" b="0" i="0">
                <a:solidFill>
                  <a:srgbClr val="C9D6F0"/>
                </a:solidFill>
                <a:latin typeface="Segoe UI"/>
              </a:rPr>
              <a:t>Ramesh answers</a:t>
            </a:r>
          </a:p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900" b="0" i="0">
                <a:solidFill>
                  <a:srgbClr val="C9D6F0"/>
                </a:solidFill>
                <a:latin typeface="Segoe UI"/>
              </a:rPr>
              <a:t>(Gemini Live)</a:t>
            </a:r>
          </a:p>
        </p:txBody>
      </p:sp>
      <p:cxnSp>
        <p:nvCxnSpPr>
          <p:cNvPr id="106" name="Connector 105"/>
          <p:cNvCxnSpPr/>
          <p:nvPr/>
        </p:nvCxnSpPr>
        <p:spPr>
          <a:xfrm>
            <a:off x="2679192" y="2075688"/>
            <a:ext cx="859536" cy="0"/>
          </a:xfrm>
          <a:prstGeom prst="line">
            <a:avLst/>
          </a:prstGeom>
          <a:ln w="19050">
            <a:solidFill>
              <a:srgbClr val="38BDF8">
                <a:alpha val="80000"/>
              </a:srgbClr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" name="Oval 106"/>
          <p:cNvSpPr/>
          <p:nvPr/>
        </p:nvSpPr>
        <p:spPr>
          <a:xfrm>
            <a:off x="3593592" y="1828800"/>
            <a:ext cx="493776" cy="493776"/>
          </a:xfrm>
          <a:prstGeom prst="ellipse">
            <a:avLst/>
          </a:prstGeom>
          <a:solidFill>
            <a:srgbClr val="38BDF8"/>
          </a:solidFill>
          <a:ln>
            <a:noFill/>
          </a:ln>
          <a:effectLst>
            <a:glow rad="101600">
              <a:srgbClr val="38BDF8">
                <a:alpha val="4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3593592" y="1828800"/>
            <a:ext cx="493776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5F8FF"/>
                </a:solidFill>
                <a:latin typeface="Segoe UI Semibold"/>
              </a:rPr>
              <a:t>3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3182112" y="2404872"/>
            <a:ext cx="1316736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900" b="0" i="0">
                <a:solidFill>
                  <a:srgbClr val="C9D6F0"/>
                </a:solidFill>
                <a:latin typeface="Segoe UI"/>
              </a:rPr>
              <a:t>Live model calls</a:t>
            </a:r>
          </a:p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900" b="0" i="0">
                <a:solidFill>
                  <a:srgbClr val="C9D6F0"/>
                </a:solidFill>
                <a:latin typeface="Segoe UI"/>
              </a:rPr>
              <a:t>record_detail</a:t>
            </a:r>
          </a:p>
        </p:txBody>
      </p:sp>
      <p:cxnSp>
        <p:nvCxnSpPr>
          <p:cNvPr id="110" name="Connector 109"/>
          <p:cNvCxnSpPr/>
          <p:nvPr/>
        </p:nvCxnSpPr>
        <p:spPr>
          <a:xfrm>
            <a:off x="4142232" y="2075688"/>
            <a:ext cx="859536" cy="0"/>
          </a:xfrm>
          <a:prstGeom prst="line">
            <a:avLst/>
          </a:prstGeom>
          <a:ln w="19050">
            <a:solidFill>
              <a:srgbClr val="38BDF8">
                <a:alpha val="80000"/>
              </a:srgbClr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Oval 110"/>
          <p:cNvSpPr/>
          <p:nvPr/>
        </p:nvSpPr>
        <p:spPr>
          <a:xfrm>
            <a:off x="5056632" y="1828800"/>
            <a:ext cx="493776" cy="493776"/>
          </a:xfrm>
          <a:prstGeom prst="ellipse">
            <a:avLst/>
          </a:prstGeom>
          <a:solidFill>
            <a:srgbClr val="38BDF8"/>
          </a:solidFill>
          <a:ln>
            <a:noFill/>
          </a:ln>
          <a:effectLst>
            <a:glow rad="101600">
              <a:srgbClr val="38BDF8">
                <a:alpha val="4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5056632" y="1828800"/>
            <a:ext cx="493776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5F8FF"/>
                </a:solidFill>
                <a:latin typeface="Segoe UI Semibold"/>
              </a:rPr>
              <a:t>4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645152" y="2404872"/>
            <a:ext cx="1316736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900" b="0" i="0">
                <a:solidFill>
                  <a:srgbClr val="C9D6F0"/>
                </a:solidFill>
                <a:latin typeface="Segoe UI"/>
              </a:rPr>
              <a:t>Flash verifier</a:t>
            </a:r>
          </a:p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900" b="0" i="0">
                <a:solidFill>
                  <a:srgbClr val="C9D6F0"/>
                </a:solidFill>
                <a:latin typeface="Segoe UI"/>
              </a:rPr>
              <a:t>re-reads the call</a:t>
            </a:r>
          </a:p>
        </p:txBody>
      </p:sp>
      <p:cxnSp>
        <p:nvCxnSpPr>
          <p:cNvPr id="114" name="Connector 113"/>
          <p:cNvCxnSpPr/>
          <p:nvPr/>
        </p:nvCxnSpPr>
        <p:spPr>
          <a:xfrm>
            <a:off x="5605272" y="2075688"/>
            <a:ext cx="859536" cy="0"/>
          </a:xfrm>
          <a:prstGeom prst="line">
            <a:avLst/>
          </a:prstGeom>
          <a:ln w="19050">
            <a:solidFill>
              <a:srgbClr val="38BDF8">
                <a:alpha val="80000"/>
              </a:srgbClr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Oval 114"/>
          <p:cNvSpPr/>
          <p:nvPr/>
        </p:nvSpPr>
        <p:spPr>
          <a:xfrm>
            <a:off x="6519672" y="1828800"/>
            <a:ext cx="493776" cy="493776"/>
          </a:xfrm>
          <a:prstGeom prst="ellipse">
            <a:avLst/>
          </a:prstGeom>
          <a:solidFill>
            <a:srgbClr val="38BDF8"/>
          </a:solidFill>
          <a:ln>
            <a:noFill/>
          </a:ln>
          <a:effectLst>
            <a:glow rad="101600">
              <a:srgbClr val="38BDF8">
                <a:alpha val="4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6519672" y="1828800"/>
            <a:ext cx="493776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5F8FF"/>
                </a:solidFill>
                <a:latin typeface="Segoe UI Semibold"/>
              </a:rPr>
              <a:t>5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6108192" y="2404872"/>
            <a:ext cx="1316736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900" b="0" i="0">
                <a:solidFill>
                  <a:srgbClr val="C9D6F0"/>
                </a:solidFill>
                <a:latin typeface="Segoe UI"/>
              </a:rPr>
              <a:t>Validators accept</a:t>
            </a:r>
          </a:p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900" b="0" i="0">
                <a:solidFill>
                  <a:srgbClr val="C9D6F0"/>
                </a:solidFill>
                <a:latin typeface="Segoe UI"/>
              </a:rPr>
              <a:t>or reject</a:t>
            </a:r>
          </a:p>
        </p:txBody>
      </p:sp>
      <p:cxnSp>
        <p:nvCxnSpPr>
          <p:cNvPr id="118" name="Connector 117"/>
          <p:cNvCxnSpPr/>
          <p:nvPr/>
        </p:nvCxnSpPr>
        <p:spPr>
          <a:xfrm>
            <a:off x="7068312" y="2075688"/>
            <a:ext cx="859536" cy="0"/>
          </a:xfrm>
          <a:prstGeom prst="line">
            <a:avLst/>
          </a:prstGeom>
          <a:ln w="19050">
            <a:solidFill>
              <a:srgbClr val="38BDF8">
                <a:alpha val="80000"/>
              </a:srgbClr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9" name="Oval 118"/>
          <p:cNvSpPr/>
          <p:nvPr/>
        </p:nvSpPr>
        <p:spPr>
          <a:xfrm>
            <a:off x="7982712" y="1828800"/>
            <a:ext cx="493776" cy="493776"/>
          </a:xfrm>
          <a:prstGeom prst="ellipse">
            <a:avLst/>
          </a:prstGeom>
          <a:solidFill>
            <a:srgbClr val="37E0A0"/>
          </a:solidFill>
          <a:ln>
            <a:noFill/>
          </a:ln>
          <a:effectLst>
            <a:glow rad="101600">
              <a:srgbClr val="37E0A0">
                <a:alpha val="4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7982712" y="1828800"/>
            <a:ext cx="493776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04070F"/>
                </a:solidFill>
                <a:latin typeface="Segoe UI Semibold"/>
              </a:rPr>
              <a:t>✓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7571231" y="2404872"/>
            <a:ext cx="1316736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900" b="0" i="0">
                <a:solidFill>
                  <a:srgbClr val="C9D6F0"/>
                </a:solidFill>
                <a:latin typeface="Segoe UI"/>
              </a:rPr>
              <a:t>Detail is</a:t>
            </a:r>
          </a:p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900" b="0" i="0">
                <a:solidFill>
                  <a:srgbClr val="C9D6F0"/>
                </a:solidFill>
                <a:latin typeface="Segoe UI"/>
              </a:rPr>
              <a:t>confirmed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411480" y="315468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 spc="160">
                <a:solidFill>
                  <a:srgbClr val="8B7CFF"/>
                </a:solidFill>
                <a:latin typeface="Segoe UI Semibold"/>
              </a:rPr>
              <a:t>STRAIN → VACCINE · THE SAME CALL PROTECTS THE NEXT FAMILY</a:t>
            </a:r>
          </a:p>
        </p:txBody>
      </p:sp>
      <p:sp>
        <p:nvSpPr>
          <p:cNvPr id="123" name="Oval 122"/>
          <p:cNvSpPr/>
          <p:nvPr/>
        </p:nvSpPr>
        <p:spPr>
          <a:xfrm>
            <a:off x="667512" y="3566160"/>
            <a:ext cx="493776" cy="493776"/>
          </a:xfrm>
          <a:prstGeom prst="ellipse">
            <a:avLst/>
          </a:prstGeom>
          <a:solidFill>
            <a:srgbClr val="8B7CFF"/>
          </a:solidFill>
          <a:ln>
            <a:noFill/>
          </a:ln>
          <a:effectLst>
            <a:glow rad="101600">
              <a:srgbClr val="8B7CFF">
                <a:alpha val="4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667512" y="3566160"/>
            <a:ext cx="493776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5F8FF"/>
                </a:solidFill>
                <a:latin typeface="Segoe UI Semibold"/>
              </a:rPr>
              <a:t>1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256032" y="4142232"/>
            <a:ext cx="1316736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900" b="0" i="0">
                <a:solidFill>
                  <a:srgbClr val="C9D6F0"/>
                </a:solidFill>
                <a:latin typeface="Segoe UI"/>
              </a:rPr>
              <a:t>Call ends</a:t>
            </a:r>
          </a:p>
        </p:txBody>
      </p:sp>
      <p:cxnSp>
        <p:nvCxnSpPr>
          <p:cNvPr id="126" name="Connector 125"/>
          <p:cNvCxnSpPr/>
          <p:nvPr/>
        </p:nvCxnSpPr>
        <p:spPr>
          <a:xfrm>
            <a:off x="1216152" y="3813048"/>
            <a:ext cx="859536" cy="0"/>
          </a:xfrm>
          <a:prstGeom prst="line">
            <a:avLst/>
          </a:prstGeom>
          <a:ln w="19050">
            <a:solidFill>
              <a:srgbClr val="8B7CFF">
                <a:alpha val="80000"/>
              </a:srgbClr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7" name="Oval 126"/>
          <p:cNvSpPr/>
          <p:nvPr/>
        </p:nvSpPr>
        <p:spPr>
          <a:xfrm>
            <a:off x="2130552" y="3566160"/>
            <a:ext cx="493776" cy="493776"/>
          </a:xfrm>
          <a:prstGeom prst="ellipse">
            <a:avLst/>
          </a:prstGeom>
          <a:solidFill>
            <a:srgbClr val="8B7CFF"/>
          </a:solidFill>
          <a:ln>
            <a:noFill/>
          </a:ln>
          <a:effectLst>
            <a:glow rad="101600">
              <a:srgbClr val="8B7CFF">
                <a:alpha val="4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2130552" y="3566160"/>
            <a:ext cx="493776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5F8FF"/>
                </a:solidFill>
                <a:latin typeface="Segoe UI Semibold"/>
              </a:rPr>
              <a:t>2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1719072" y="4142232"/>
            <a:ext cx="1316736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900" b="0" i="0">
                <a:solidFill>
                  <a:srgbClr val="C9D6F0"/>
                </a:solidFill>
                <a:latin typeface="Segoe UI"/>
              </a:rPr>
              <a:t>Recording and</a:t>
            </a:r>
          </a:p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900" b="0" i="0">
                <a:solidFill>
                  <a:srgbClr val="C9D6F0"/>
                </a:solidFill>
                <a:latin typeface="Segoe UI"/>
              </a:rPr>
              <a:t>evidence saved</a:t>
            </a:r>
          </a:p>
        </p:txBody>
      </p:sp>
      <p:cxnSp>
        <p:nvCxnSpPr>
          <p:cNvPr id="130" name="Connector 129"/>
          <p:cNvCxnSpPr/>
          <p:nvPr/>
        </p:nvCxnSpPr>
        <p:spPr>
          <a:xfrm>
            <a:off x="2679192" y="3813048"/>
            <a:ext cx="859536" cy="0"/>
          </a:xfrm>
          <a:prstGeom prst="line">
            <a:avLst/>
          </a:prstGeom>
          <a:ln w="19050">
            <a:solidFill>
              <a:srgbClr val="8B7CFF">
                <a:alpha val="80000"/>
              </a:srgbClr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1" name="Oval 130"/>
          <p:cNvSpPr/>
          <p:nvPr/>
        </p:nvSpPr>
        <p:spPr>
          <a:xfrm>
            <a:off x="3593592" y="3566160"/>
            <a:ext cx="493776" cy="493776"/>
          </a:xfrm>
          <a:prstGeom prst="ellipse">
            <a:avLst/>
          </a:prstGeom>
          <a:solidFill>
            <a:srgbClr val="8B7CFF"/>
          </a:solidFill>
          <a:ln>
            <a:noFill/>
          </a:ln>
          <a:effectLst>
            <a:glow rad="101600">
              <a:srgbClr val="8B7CFF">
                <a:alpha val="4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3593592" y="3566160"/>
            <a:ext cx="493776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5F8FF"/>
                </a:solidFill>
                <a:latin typeface="Segoe UI Semibold"/>
              </a:rPr>
              <a:t>3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182112" y="4142232"/>
            <a:ext cx="1316736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900" b="0" i="0">
                <a:solidFill>
                  <a:srgbClr val="C9D6F0"/>
                </a:solidFill>
                <a:latin typeface="Segoe UI"/>
              </a:rPr>
              <a:t>Strain card built,</a:t>
            </a:r>
          </a:p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900" b="0" i="0">
                <a:solidFill>
                  <a:srgbClr val="C9D6F0"/>
                </a:solidFill>
                <a:latin typeface="Segoe UI"/>
              </a:rPr>
              <a:t>redacted</a:t>
            </a:r>
          </a:p>
        </p:txBody>
      </p:sp>
      <p:cxnSp>
        <p:nvCxnSpPr>
          <p:cNvPr id="134" name="Connector 133"/>
          <p:cNvCxnSpPr/>
          <p:nvPr/>
        </p:nvCxnSpPr>
        <p:spPr>
          <a:xfrm>
            <a:off x="4142232" y="3813048"/>
            <a:ext cx="859536" cy="0"/>
          </a:xfrm>
          <a:prstGeom prst="line">
            <a:avLst/>
          </a:prstGeom>
          <a:ln w="19050">
            <a:solidFill>
              <a:srgbClr val="8B7CFF">
                <a:alpha val="80000"/>
              </a:srgbClr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5" name="Oval 134"/>
          <p:cNvSpPr/>
          <p:nvPr/>
        </p:nvSpPr>
        <p:spPr>
          <a:xfrm>
            <a:off x="5056632" y="3566160"/>
            <a:ext cx="493776" cy="493776"/>
          </a:xfrm>
          <a:prstGeom prst="ellipse">
            <a:avLst/>
          </a:prstGeom>
          <a:solidFill>
            <a:srgbClr val="8B7CFF"/>
          </a:solidFill>
          <a:ln>
            <a:noFill/>
          </a:ln>
          <a:effectLst>
            <a:glow rad="101600">
              <a:srgbClr val="8B7CFF">
                <a:alpha val="4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5056632" y="3566160"/>
            <a:ext cx="493776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5F8FF"/>
                </a:solidFill>
                <a:latin typeface="Segoe UI Semibold"/>
              </a:rPr>
              <a:t>4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4645152" y="4142232"/>
            <a:ext cx="1316736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900" b="0" i="0">
                <a:solidFill>
                  <a:srgbClr val="C9D6F0"/>
                </a:solidFill>
                <a:latin typeface="Segoe UI"/>
              </a:rPr>
              <a:t>Family drill,</a:t>
            </a:r>
          </a:p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900" b="0" i="0">
                <a:solidFill>
                  <a:srgbClr val="C9D6F0"/>
                </a:solidFill>
                <a:latin typeface="Segoe UI"/>
              </a:rPr>
              <a:t>parent consents</a:t>
            </a:r>
          </a:p>
        </p:txBody>
      </p:sp>
      <p:cxnSp>
        <p:nvCxnSpPr>
          <p:cNvPr id="138" name="Connector 137"/>
          <p:cNvCxnSpPr/>
          <p:nvPr/>
        </p:nvCxnSpPr>
        <p:spPr>
          <a:xfrm>
            <a:off x="5605272" y="3813048"/>
            <a:ext cx="859536" cy="0"/>
          </a:xfrm>
          <a:prstGeom prst="line">
            <a:avLst/>
          </a:prstGeom>
          <a:ln w="19050">
            <a:solidFill>
              <a:srgbClr val="8B7CFF">
                <a:alpha val="80000"/>
              </a:srgbClr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9" name="Oval 138"/>
          <p:cNvSpPr/>
          <p:nvPr/>
        </p:nvSpPr>
        <p:spPr>
          <a:xfrm>
            <a:off x="6519672" y="3566160"/>
            <a:ext cx="493776" cy="493776"/>
          </a:xfrm>
          <a:prstGeom prst="ellipse">
            <a:avLst/>
          </a:prstGeom>
          <a:solidFill>
            <a:srgbClr val="8B7CFF"/>
          </a:solidFill>
          <a:ln>
            <a:noFill/>
          </a:ln>
          <a:effectLst>
            <a:glow rad="101600">
              <a:srgbClr val="8B7CFF">
                <a:alpha val="4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6519672" y="3566160"/>
            <a:ext cx="493776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5F8FF"/>
                </a:solidFill>
                <a:latin typeface="Segoe UI Semibold"/>
              </a:rPr>
              <a:t>5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108192" y="4142232"/>
            <a:ext cx="1316736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900" b="0" i="0">
                <a:solidFill>
                  <a:srgbClr val="C9D6F0"/>
                </a:solidFill>
                <a:latin typeface="Segoe UI"/>
              </a:rPr>
              <a:t>Parent takes the</a:t>
            </a:r>
          </a:p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900" b="0" i="0">
                <a:solidFill>
                  <a:srgbClr val="C9D6F0"/>
                </a:solidFill>
                <a:latin typeface="Segoe UI"/>
              </a:rPr>
              <a:t>practice call</a:t>
            </a:r>
          </a:p>
        </p:txBody>
      </p:sp>
      <p:cxnSp>
        <p:nvCxnSpPr>
          <p:cNvPr id="142" name="Connector 141"/>
          <p:cNvCxnSpPr/>
          <p:nvPr/>
        </p:nvCxnSpPr>
        <p:spPr>
          <a:xfrm>
            <a:off x="7068312" y="3813048"/>
            <a:ext cx="859536" cy="0"/>
          </a:xfrm>
          <a:prstGeom prst="line">
            <a:avLst/>
          </a:prstGeom>
          <a:ln w="19050">
            <a:solidFill>
              <a:srgbClr val="8B7CFF">
                <a:alpha val="80000"/>
              </a:srgbClr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3" name="Oval 142"/>
          <p:cNvSpPr/>
          <p:nvPr/>
        </p:nvSpPr>
        <p:spPr>
          <a:xfrm>
            <a:off x="7982712" y="3566160"/>
            <a:ext cx="493776" cy="493776"/>
          </a:xfrm>
          <a:prstGeom prst="ellipse">
            <a:avLst/>
          </a:prstGeom>
          <a:solidFill>
            <a:srgbClr val="37E0A0"/>
          </a:solidFill>
          <a:ln>
            <a:noFill/>
          </a:ln>
          <a:effectLst>
            <a:glow rad="101600">
              <a:srgbClr val="37E0A0">
                <a:alpha val="4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7982712" y="3566160"/>
            <a:ext cx="493776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04070F"/>
                </a:solidFill>
                <a:latin typeface="Segoe UI Semibold"/>
              </a:rPr>
              <a:t>✓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7571231" y="4142232"/>
            <a:ext cx="1316736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900" b="0" i="0">
                <a:solidFill>
                  <a:srgbClr val="C9D6F0"/>
                </a:solidFill>
                <a:latin typeface="Segoe UI"/>
              </a:rPr>
              <a:t>Coach stops</a:t>
            </a:r>
          </a:p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900" b="0" i="0">
                <a:solidFill>
                  <a:srgbClr val="C9D6F0"/>
                </a:solidFill>
                <a:latin typeface="Segoe UI"/>
              </a:rPr>
              <a:t>and debriefs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2743200" y="2807208"/>
            <a:ext cx="3242828" cy="256032"/>
          </a:xfrm>
          <a:prstGeom prst="roundRect">
            <a:avLst>
              <a:gd name="adj" fmla="val 50000"/>
            </a:avLst>
          </a:prstGeom>
          <a:solidFill>
            <a:srgbClr val="FBBF24">
              <a:alpha val="14000"/>
            </a:srgbClr>
          </a:solidFill>
          <a:ln w="9525">
            <a:solidFill>
              <a:srgbClr val="FBBF24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2743200" y="2807208"/>
            <a:ext cx="324282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F5F8FF"/>
                </a:solidFill>
                <a:latin typeface="Segoe UI"/>
              </a:rPr>
              <a:t>▼  the finished call feeds the next two stages</a:t>
            </a:r>
          </a:p>
        </p:txBody>
      </p:sp>
      <p:sp>
        <p:nvSpPr>
          <p:cNvPr id="148" name="Rounded Rectangle 147"/>
          <p:cNvSpPr/>
          <p:nvPr/>
        </p:nvSpPr>
        <p:spPr>
          <a:xfrm>
            <a:off x="411480" y="4526280"/>
            <a:ext cx="3518976" cy="274320"/>
          </a:xfrm>
          <a:prstGeom prst="roundRect">
            <a:avLst>
              <a:gd name="adj" fmla="val 50000"/>
            </a:avLst>
          </a:prstGeom>
          <a:solidFill>
            <a:srgbClr val="38BDF8">
              <a:alpha val="14000"/>
            </a:srgbClr>
          </a:solidFill>
          <a:ln w="9525">
            <a:solidFill>
              <a:srgbClr val="38BDF8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411480" y="4526280"/>
            <a:ext cx="351897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F5F8FF"/>
                </a:solidFill>
                <a:latin typeface="Segoe UI"/>
              </a:rPr>
              <a:t>Two independent checks before anything is confirmed</a:t>
            </a:r>
          </a:p>
        </p:txBody>
      </p:sp>
      <p:sp>
        <p:nvSpPr>
          <p:cNvPr id="150" name="Rounded Rectangle 149"/>
          <p:cNvSpPr/>
          <p:nvPr/>
        </p:nvSpPr>
        <p:spPr>
          <a:xfrm>
            <a:off x="4040184" y="4526280"/>
            <a:ext cx="2455712" cy="274320"/>
          </a:xfrm>
          <a:prstGeom prst="roundRect">
            <a:avLst>
              <a:gd name="adj" fmla="val 50000"/>
            </a:avLst>
          </a:prstGeom>
          <a:solidFill>
            <a:srgbClr val="8B7CFF">
              <a:alpha val="14000"/>
            </a:srgbClr>
          </a:solidFill>
          <a:ln w="9525">
            <a:solidFill>
              <a:srgbClr val="8B7C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4040184" y="4526280"/>
            <a:ext cx="245571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F5F8FF"/>
                </a:solidFill>
                <a:latin typeface="Segoe UI"/>
              </a:rPr>
              <a:t>No identifier survives in a strain</a:t>
            </a:r>
          </a:p>
        </p:txBody>
      </p:sp>
      <p:sp>
        <p:nvSpPr>
          <p:cNvPr id="152" name="Rounded Rectangle 151"/>
          <p:cNvSpPr/>
          <p:nvPr/>
        </p:nvSpPr>
        <p:spPr>
          <a:xfrm>
            <a:off x="6605625" y="4526280"/>
            <a:ext cx="2205532" cy="274320"/>
          </a:xfrm>
          <a:prstGeom prst="roundRect">
            <a:avLst>
              <a:gd name="adj" fmla="val 50000"/>
            </a:avLst>
          </a:prstGeom>
          <a:solidFill>
            <a:srgbClr val="37E0A0">
              <a:alpha val="14000"/>
            </a:srgbClr>
          </a:solidFill>
          <a:ln w="9525">
            <a:solidFill>
              <a:srgbClr val="37E0A0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6605625" y="4526280"/>
            <a:ext cx="220553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F5F8FF"/>
                </a:solidFill>
                <a:latin typeface="Segoe UI"/>
              </a:rPr>
              <a:t>A parent always consents first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4070F"/>
        </a:solidFill>
        <a:effectLst/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Picture 102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100" name="Google Shape;100;p19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9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9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411480" y="676656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 spc="160">
                <a:solidFill>
                  <a:srgbClr val="38BDF8"/>
                </a:solidFill>
                <a:latin typeface="Segoe UI Semibold"/>
              </a:rPr>
              <a:t>WIREFRAMES / MOCK-UPS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411480" y="850392"/>
            <a:ext cx="8321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F5F8FF"/>
                </a:solidFill>
                <a:latin typeface="Segoe UI Semibold"/>
              </a:rPr>
              <a:t>Three screens tell the whole story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411480" y="1243584"/>
            <a:ext cx="8321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9DB0D4"/>
                </a:solidFill>
                <a:latin typeface="Segoe UI"/>
              </a:rPr>
              <a:t>Real screens from the live prototype. All names, numbers and IDs are fictional.</a:t>
            </a:r>
          </a:p>
        </p:txBody>
      </p:sp>
      <p:pic>
        <p:nvPicPr>
          <p:cNvPr id="107" name="Picture 106" descr="image.jpg"/>
          <p:cNvPicPr>
            <a:picLocks noChangeAspect="1"/>
          </p:cNvPicPr>
          <p:nvPr/>
        </p:nvPicPr>
        <p:blipFill>
          <a:blip r:embed="rId9"/>
          <a:srcRect b="459"/>
          <a:stretch>
            <a:fillRect/>
          </a:stretch>
        </p:blipFill>
        <p:spPr>
          <a:xfrm>
            <a:off x="548640" y="1627632"/>
            <a:ext cx="4206240" cy="2377440"/>
          </a:xfrm>
          <a:prstGeom prst="roundRect">
            <a:avLst>
              <a:gd name="adj" fmla="val 3846"/>
            </a:avLst>
          </a:prstGeom>
          <a:ln w="12700">
            <a:solidFill>
              <a:srgbClr val="38BDF8"/>
            </a:solidFill>
          </a:ln>
          <a:effectLst>
            <a:glow rad="152400">
              <a:srgbClr val="38BDF8">
                <a:alpha val="35000"/>
              </a:srgbClr>
            </a:glow>
          </a:effectLst>
        </p:spPr>
      </p:pic>
      <p:pic>
        <p:nvPicPr>
          <p:cNvPr id="108" name="Picture 107" descr="image.jpg"/>
          <p:cNvPicPr>
            <a:picLocks noChangeAspect="1"/>
          </p:cNvPicPr>
          <p:nvPr/>
        </p:nvPicPr>
        <p:blipFill>
          <a:blip r:embed="rId10"/>
          <a:srcRect b="15527"/>
          <a:stretch>
            <a:fillRect/>
          </a:stretch>
        </p:blipFill>
        <p:spPr>
          <a:xfrm>
            <a:off x="5074920" y="1627632"/>
            <a:ext cx="1600200" cy="2377440"/>
          </a:xfrm>
          <a:prstGeom prst="roundRect">
            <a:avLst>
              <a:gd name="adj" fmla="val 5714"/>
            </a:avLst>
          </a:prstGeom>
          <a:ln w="12700">
            <a:solidFill>
              <a:srgbClr val="8B7CFF"/>
            </a:solidFill>
          </a:ln>
          <a:effectLst>
            <a:glow rad="152400">
              <a:srgbClr val="8B7CFF">
                <a:alpha val="35000"/>
              </a:srgbClr>
            </a:glow>
          </a:effectLst>
        </p:spPr>
      </p:pic>
      <p:pic>
        <p:nvPicPr>
          <p:cNvPr id="109" name="Picture 108" descr="image.jpg"/>
          <p:cNvPicPr>
            <a:picLocks noChangeAspect="1"/>
          </p:cNvPicPr>
          <p:nvPr/>
        </p:nvPicPr>
        <p:blipFill>
          <a:blip r:embed="rId11"/>
          <a:srcRect b="983"/>
          <a:stretch>
            <a:fillRect/>
          </a:stretch>
        </p:blipFill>
        <p:spPr>
          <a:xfrm>
            <a:off x="6995160" y="1627632"/>
            <a:ext cx="1691640" cy="2377440"/>
          </a:xfrm>
          <a:prstGeom prst="roundRect">
            <a:avLst>
              <a:gd name="adj" fmla="val 5405"/>
            </a:avLst>
          </a:prstGeom>
          <a:ln w="12700">
            <a:solidFill>
              <a:srgbClr val="37E0A0"/>
            </a:solidFill>
          </a:ln>
          <a:effectLst>
            <a:glow rad="152400">
              <a:srgbClr val="37E0A0">
                <a:alpha val="35000"/>
              </a:srgbClr>
            </a:glow>
          </a:effectLst>
        </p:spPr>
      </p:pic>
      <p:sp>
        <p:nvSpPr>
          <p:cNvPr id="110" name="Oval 109"/>
          <p:cNvSpPr/>
          <p:nvPr/>
        </p:nvSpPr>
        <p:spPr>
          <a:xfrm>
            <a:off x="548640" y="4160520"/>
            <a:ext cx="256032" cy="256032"/>
          </a:xfrm>
          <a:prstGeom prst="ellipse">
            <a:avLst/>
          </a:prstGeom>
          <a:solidFill>
            <a:srgbClr val="38BDF8"/>
          </a:solidFill>
          <a:ln>
            <a:noFill/>
          </a:ln>
          <a:effectLst>
            <a:glow rad="76200">
              <a:srgbClr val="38BDF8">
                <a:alpha val="3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548640" y="4160520"/>
            <a:ext cx="25603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5F8FF"/>
                </a:solidFill>
                <a:latin typeface="Segoe UI Semibold"/>
              </a:rPr>
              <a:t>1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886968" y="4160520"/>
            <a:ext cx="3867911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F5F8FF"/>
                </a:solidFill>
                <a:latin typeface="Segoe UI Semibold"/>
              </a:rPr>
              <a:t>Live dashboard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548640" y="448056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9DB0D4"/>
                </a:solidFill>
                <a:latin typeface="Segoe UI"/>
              </a:rPr>
              <a:t>Scam type, trigger phrases, script stage and details that move from heard to confirmed.</a:t>
            </a:r>
          </a:p>
        </p:txBody>
      </p:sp>
      <p:sp>
        <p:nvSpPr>
          <p:cNvPr id="114" name="Oval 113"/>
          <p:cNvSpPr/>
          <p:nvPr/>
        </p:nvSpPr>
        <p:spPr>
          <a:xfrm>
            <a:off x="5074920" y="4160520"/>
            <a:ext cx="256032" cy="256032"/>
          </a:xfrm>
          <a:prstGeom prst="ellipse">
            <a:avLst/>
          </a:prstGeom>
          <a:solidFill>
            <a:srgbClr val="8B7CFF"/>
          </a:solidFill>
          <a:ln>
            <a:noFill/>
          </a:ln>
          <a:effectLst>
            <a:glow rad="76200">
              <a:srgbClr val="8B7CFF">
                <a:alpha val="3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5074920" y="4160520"/>
            <a:ext cx="25603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5F8FF"/>
                </a:solidFill>
                <a:latin typeface="Segoe UI Semibold"/>
              </a:rPr>
              <a:t>2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5413248" y="4160520"/>
            <a:ext cx="126187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F5F8FF"/>
                </a:solidFill>
                <a:latin typeface="Segoe UI Semibold"/>
              </a:rPr>
              <a:t>Strain card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5074920" y="4480560"/>
            <a:ext cx="1600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9DB0D4"/>
                </a:solidFill>
                <a:latin typeface="Segoe UI"/>
              </a:rPr>
              <a:t>The script with every identifier removed.</a:t>
            </a:r>
          </a:p>
        </p:txBody>
      </p:sp>
      <p:sp>
        <p:nvSpPr>
          <p:cNvPr id="118" name="Oval 117"/>
          <p:cNvSpPr/>
          <p:nvPr/>
        </p:nvSpPr>
        <p:spPr>
          <a:xfrm>
            <a:off x="6995160" y="4160520"/>
            <a:ext cx="256032" cy="256032"/>
          </a:xfrm>
          <a:prstGeom prst="ellipse">
            <a:avLst/>
          </a:prstGeom>
          <a:solidFill>
            <a:srgbClr val="37E0A0"/>
          </a:solidFill>
          <a:ln>
            <a:noFill/>
          </a:ln>
          <a:effectLst>
            <a:glow rad="76200">
              <a:srgbClr val="37E0A0">
                <a:alpha val="3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6995160" y="4160520"/>
            <a:ext cx="25603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5F8FF"/>
                </a:solidFill>
                <a:latin typeface="Segoe UI Semibold"/>
              </a:rPr>
              <a:t>3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7333488" y="4160520"/>
            <a:ext cx="126187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F5F8FF"/>
                </a:solidFill>
                <a:latin typeface="Segoe UI Semibold"/>
              </a:rPr>
              <a:t>Parent's invitation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6995160" y="4480560"/>
            <a:ext cx="1600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9DB0D4"/>
                </a:solidFill>
                <a:latin typeface="Segoe UI"/>
              </a:rPr>
              <a:t>One tap to a consented practice call.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4070F"/>
        </a:solidFill>
        <a:effectLst/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Picture 110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108" name="Google Shape;108;p20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20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0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411480" y="676656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 spc="160">
                <a:solidFill>
                  <a:srgbClr val="38BDF8"/>
                </a:solidFill>
                <a:latin typeface="Segoe UI Semibold"/>
              </a:rPr>
              <a:t>ARCHITECTURE DIAGRAM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11480" y="850392"/>
            <a:ext cx="8321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F5F8FF"/>
                </a:solidFill>
                <a:latin typeface="Segoe UI Semibold"/>
              </a:rPr>
              <a:t>Google Cloud end to end, no API keys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411480" y="1371600"/>
            <a:ext cx="2103120" cy="2788920"/>
          </a:xfrm>
          <a:prstGeom prst="roundRect">
            <a:avLst>
              <a:gd name="adj" fmla="val 6086"/>
            </a:avLst>
          </a:prstGeom>
          <a:solidFill>
            <a:srgbClr val="0B1428">
              <a:alpha val="78000"/>
            </a:srgbClr>
          </a:solidFill>
          <a:ln w="9525">
            <a:solidFill>
              <a:srgbClr val="1D3566">
                <a:alpha val="75000"/>
              </a:srgbClr>
            </a:solidFill>
          </a:ln>
          <a:effectLst>
            <a:glow rad="76200">
              <a:srgbClr val="38BDF8">
                <a:alpha val="14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576072" y="1371600"/>
            <a:ext cx="548640" cy="41148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576072" y="1481328"/>
            <a:ext cx="182879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F5F8FF"/>
                </a:solidFill>
                <a:latin typeface="Segoe UI Semibold"/>
              </a:rPr>
              <a:t>Browser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576072" y="1709928"/>
            <a:ext cx="182879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38BDF8"/>
                </a:solidFill>
                <a:latin typeface="Segoe UI"/>
              </a:rPr>
              <a:t>Firebase Hosting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548640" y="1993392"/>
            <a:ext cx="1828800" cy="512064"/>
          </a:xfrm>
          <a:prstGeom prst="roundRect">
            <a:avLst>
              <a:gd name="adj" fmla="val 12500"/>
            </a:avLst>
          </a:prstGeom>
          <a:solidFill>
            <a:srgbClr val="0A1A3F">
              <a:alpha val="90000"/>
            </a:srgbClr>
          </a:solidFill>
          <a:ln w="9525">
            <a:solidFill>
              <a:srgbClr val="38BDF8">
                <a:alpha val="5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640080" y="1993392"/>
            <a:ext cx="1664208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50" b="0" i="0">
                <a:solidFill>
                  <a:srgbClr val="C9D6F0"/>
                </a:solidFill>
                <a:latin typeface="Segoe UI"/>
              </a:rPr>
              <a:t>Mic: 16 kHz PCM16</a:t>
            </a:r>
          </a:p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50" b="0" i="0">
                <a:solidFill>
                  <a:srgbClr val="C9D6F0"/>
                </a:solidFill>
                <a:latin typeface="Segoe UI"/>
              </a:rPr>
              <a:t>(AudioWorklet)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548640" y="2633472"/>
            <a:ext cx="1828800" cy="512064"/>
          </a:xfrm>
          <a:prstGeom prst="roundRect">
            <a:avLst>
              <a:gd name="adj" fmla="val 12500"/>
            </a:avLst>
          </a:prstGeom>
          <a:solidFill>
            <a:srgbClr val="0A1A3F">
              <a:alpha val="90000"/>
            </a:srgbClr>
          </a:solidFill>
          <a:ln w="9525">
            <a:solidFill>
              <a:srgbClr val="38BDF8">
                <a:alpha val="5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640080" y="2633472"/>
            <a:ext cx="1664208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50" b="0" i="0">
                <a:solidFill>
                  <a:srgbClr val="C9D6F0"/>
                </a:solidFill>
                <a:latin typeface="Segoe UI"/>
              </a:rPr>
              <a:t>Playback: 24 kHz PCM16,</a:t>
            </a:r>
          </a:p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50" b="0" i="0">
                <a:solidFill>
                  <a:srgbClr val="C9D6F0"/>
                </a:solidFill>
                <a:latin typeface="Segoe UI"/>
              </a:rPr>
              <a:t>barge-in flush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548640" y="3273552"/>
            <a:ext cx="1828800" cy="512064"/>
          </a:xfrm>
          <a:prstGeom prst="roundRect">
            <a:avLst>
              <a:gd name="adj" fmla="val 12500"/>
            </a:avLst>
          </a:prstGeom>
          <a:solidFill>
            <a:srgbClr val="0A1A3F">
              <a:alpha val="90000"/>
            </a:srgbClr>
          </a:solidFill>
          <a:ln w="9525">
            <a:solidFill>
              <a:srgbClr val="38BDF8">
                <a:alpha val="5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640080" y="3273552"/>
            <a:ext cx="1664208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50" b="0" i="0">
                <a:solidFill>
                  <a:srgbClr val="C9D6F0"/>
                </a:solidFill>
                <a:latin typeface="Segoe UI"/>
              </a:rPr>
              <a:t>Dashboard, replay player,</a:t>
            </a:r>
          </a:p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50" b="0" i="0">
                <a:solidFill>
                  <a:srgbClr val="C9D6F0"/>
                </a:solidFill>
                <a:latin typeface="Segoe UI"/>
              </a:rPr>
              <a:t>family-drill page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3246120" y="1371600"/>
            <a:ext cx="2286000" cy="2788920"/>
          </a:xfrm>
          <a:prstGeom prst="roundRect">
            <a:avLst>
              <a:gd name="adj" fmla="val 5600"/>
            </a:avLst>
          </a:prstGeom>
          <a:solidFill>
            <a:srgbClr val="0B1428">
              <a:alpha val="78000"/>
            </a:srgbClr>
          </a:solidFill>
          <a:ln w="9525">
            <a:solidFill>
              <a:srgbClr val="1D3566">
                <a:alpha val="75000"/>
              </a:srgbClr>
            </a:solidFill>
          </a:ln>
          <a:effectLst>
            <a:glow rad="76200">
              <a:srgbClr val="3B82F6">
                <a:alpha val="14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3410712" y="1371600"/>
            <a:ext cx="548640" cy="41148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3410712" y="1481328"/>
            <a:ext cx="2011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F5F8FF"/>
                </a:solidFill>
                <a:latin typeface="Segoe UI Semibold"/>
              </a:rPr>
              <a:t>Cloud Run · FastAPI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3410712" y="1709928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3B82F6"/>
                </a:solidFill>
                <a:latin typeface="Segoe UI"/>
              </a:rPr>
              <a:t>asia-south1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3383280" y="1938528"/>
            <a:ext cx="2011680" cy="457200"/>
          </a:xfrm>
          <a:prstGeom prst="roundRect">
            <a:avLst>
              <a:gd name="adj" fmla="val 14000"/>
            </a:avLst>
          </a:prstGeom>
          <a:solidFill>
            <a:srgbClr val="0A1A3F">
              <a:alpha val="90000"/>
            </a:srgbClr>
          </a:solidFill>
          <a:ln w="9525">
            <a:solidFill>
              <a:srgbClr val="3B82F6">
                <a:alpha val="5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3474720" y="1938528"/>
            <a:ext cx="184708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50" b="0" i="0">
                <a:solidFill>
                  <a:srgbClr val="C9D6F0"/>
                </a:solidFill>
                <a:latin typeface="Segoe UI"/>
              </a:rPr>
              <a:t>WebSockets</a:t>
            </a:r>
          </a:p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50" b="0" i="0">
                <a:solidFill>
                  <a:srgbClr val="C9D6F0"/>
                </a:solidFill>
                <a:latin typeface="Segoe UI"/>
              </a:rPr>
              <a:t>/ws/call · /ws/text · /ws/drill</a:t>
            </a:r>
          </a:p>
        </p:txBody>
      </p:sp>
      <p:sp>
        <p:nvSpPr>
          <p:cNvPr id="130" name="Rounded Rectangle 129"/>
          <p:cNvSpPr/>
          <p:nvPr/>
        </p:nvSpPr>
        <p:spPr>
          <a:xfrm>
            <a:off x="3383280" y="2487168"/>
            <a:ext cx="2011680" cy="457200"/>
          </a:xfrm>
          <a:prstGeom prst="roundRect">
            <a:avLst>
              <a:gd name="adj" fmla="val 14000"/>
            </a:avLst>
          </a:prstGeom>
          <a:solidFill>
            <a:srgbClr val="0A1A3F">
              <a:alpha val="90000"/>
            </a:srgbClr>
          </a:solidFill>
          <a:ln w="9525">
            <a:solidFill>
              <a:srgbClr val="3B82F6">
                <a:alpha val="5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3474720" y="2487168"/>
            <a:ext cx="184708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50" b="0" i="0">
                <a:solidFill>
                  <a:srgbClr val="C9D6F0"/>
                </a:solidFill>
                <a:latin typeface="Segoe UI"/>
              </a:rPr>
              <a:t>Call engine: details, stages,</a:t>
            </a:r>
          </a:p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50" b="0" i="0">
                <a:solidFill>
                  <a:srgbClr val="C9D6F0"/>
                </a:solidFill>
                <a:latin typeface="Segoe UI"/>
              </a:rPr>
              <a:t>limits, English translation</a:t>
            </a:r>
          </a:p>
        </p:txBody>
      </p:sp>
      <p:sp>
        <p:nvSpPr>
          <p:cNvPr id="132" name="Rounded Rectangle 131"/>
          <p:cNvSpPr/>
          <p:nvPr/>
        </p:nvSpPr>
        <p:spPr>
          <a:xfrm>
            <a:off x="3383280" y="3035808"/>
            <a:ext cx="2011680" cy="457200"/>
          </a:xfrm>
          <a:prstGeom prst="roundRect">
            <a:avLst>
              <a:gd name="adj" fmla="val 14000"/>
            </a:avLst>
          </a:prstGeom>
          <a:solidFill>
            <a:srgbClr val="0A1A3F">
              <a:alpha val="90000"/>
            </a:srgbClr>
          </a:solidFill>
          <a:ln w="9525">
            <a:solidFill>
              <a:srgbClr val="3B82F6">
                <a:alpha val="5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3474720" y="3035808"/>
            <a:ext cx="184708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50" b="0" i="0">
                <a:solidFill>
                  <a:srgbClr val="C9D6F0"/>
                </a:solidFill>
                <a:latin typeface="Segoe UI"/>
              </a:rPr>
              <a:t>Validators and spoken-</a:t>
            </a:r>
          </a:p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50" b="0" i="0">
                <a:solidFill>
                  <a:srgbClr val="C9D6F0"/>
                </a:solidFill>
                <a:latin typeface="Segoe UI"/>
              </a:rPr>
              <a:t>number normaliser</a:t>
            </a:r>
          </a:p>
        </p:txBody>
      </p:sp>
      <p:sp>
        <p:nvSpPr>
          <p:cNvPr id="134" name="Rounded Rectangle 133"/>
          <p:cNvSpPr/>
          <p:nvPr/>
        </p:nvSpPr>
        <p:spPr>
          <a:xfrm>
            <a:off x="3383280" y="3584448"/>
            <a:ext cx="2011680" cy="457200"/>
          </a:xfrm>
          <a:prstGeom prst="roundRect">
            <a:avLst>
              <a:gd name="adj" fmla="val 14000"/>
            </a:avLst>
          </a:prstGeom>
          <a:solidFill>
            <a:srgbClr val="0A1A3F">
              <a:alpha val="90000"/>
            </a:srgbClr>
          </a:solidFill>
          <a:ln w="9525">
            <a:solidFill>
              <a:srgbClr val="3B82F6">
                <a:alpha val="5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3474720" y="3584448"/>
            <a:ext cx="184708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50" b="0" i="0">
                <a:solidFill>
                  <a:srgbClr val="C9D6F0"/>
                </a:solidFill>
                <a:latin typeface="Segoe UI"/>
              </a:rPr>
              <a:t>REST /api: calls, strains,</a:t>
            </a:r>
          </a:p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50" b="0" i="0">
                <a:solidFill>
                  <a:srgbClr val="C9D6F0"/>
                </a:solidFill>
                <a:latin typeface="Segoe UI"/>
              </a:rPr>
              <a:t>drills</a:t>
            </a:r>
          </a:p>
        </p:txBody>
      </p:sp>
      <p:sp>
        <p:nvSpPr>
          <p:cNvPr id="136" name="Rounded Rectangle 135"/>
          <p:cNvSpPr/>
          <p:nvPr/>
        </p:nvSpPr>
        <p:spPr>
          <a:xfrm>
            <a:off x="6263640" y="1371600"/>
            <a:ext cx="2468880" cy="1691640"/>
          </a:xfrm>
          <a:prstGeom prst="roundRect">
            <a:avLst>
              <a:gd name="adj" fmla="val 7567"/>
            </a:avLst>
          </a:prstGeom>
          <a:solidFill>
            <a:srgbClr val="0B1428">
              <a:alpha val="78000"/>
            </a:srgbClr>
          </a:solidFill>
          <a:ln w="9525">
            <a:solidFill>
              <a:srgbClr val="1D3566">
                <a:alpha val="75000"/>
              </a:srgbClr>
            </a:solidFill>
          </a:ln>
          <a:effectLst>
            <a:glow rad="76200">
              <a:srgbClr val="8B7CFF">
                <a:alpha val="14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6428231" y="1371600"/>
            <a:ext cx="548640" cy="41148"/>
          </a:xfrm>
          <a:prstGeom prst="rect">
            <a:avLst/>
          </a:prstGeom>
          <a:solidFill>
            <a:srgbClr val="8B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6428231" y="1481328"/>
            <a:ext cx="2194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F5F8FF"/>
                </a:solidFill>
                <a:latin typeface="Segoe UI Semibold"/>
              </a:rPr>
              <a:t>Vertex AI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6428231" y="1709928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8B7CFF"/>
                </a:solidFill>
                <a:latin typeface="Segoe UI"/>
              </a:rPr>
              <a:t>Application Default Credentials, no keys</a:t>
            </a:r>
          </a:p>
        </p:txBody>
      </p:sp>
      <p:sp>
        <p:nvSpPr>
          <p:cNvPr id="140" name="Rounded Rectangle 139"/>
          <p:cNvSpPr/>
          <p:nvPr/>
        </p:nvSpPr>
        <p:spPr>
          <a:xfrm>
            <a:off x="6400800" y="1920240"/>
            <a:ext cx="2194560" cy="329184"/>
          </a:xfrm>
          <a:prstGeom prst="roundRect">
            <a:avLst>
              <a:gd name="adj" fmla="val 19444"/>
            </a:avLst>
          </a:prstGeom>
          <a:solidFill>
            <a:srgbClr val="0A1A3F">
              <a:alpha val="90000"/>
            </a:srgbClr>
          </a:solidFill>
          <a:ln w="9525">
            <a:solidFill>
              <a:srgbClr val="8B7CFF">
                <a:alpha val="5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6492240" y="1920240"/>
            <a:ext cx="202996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50" b="0" i="0">
                <a:solidFill>
                  <a:srgbClr val="C9D6F0"/>
                </a:solidFill>
                <a:latin typeface="Segoe UI"/>
              </a:rPr>
              <a:t>Gemini Live (us-central1): voice + tools</a:t>
            </a:r>
          </a:p>
        </p:txBody>
      </p:sp>
      <p:sp>
        <p:nvSpPr>
          <p:cNvPr id="142" name="Rounded Rectangle 141"/>
          <p:cNvSpPr/>
          <p:nvPr/>
        </p:nvSpPr>
        <p:spPr>
          <a:xfrm>
            <a:off x="6400800" y="2286000"/>
            <a:ext cx="2194560" cy="365760"/>
          </a:xfrm>
          <a:prstGeom prst="roundRect">
            <a:avLst>
              <a:gd name="adj" fmla="val 17500"/>
            </a:avLst>
          </a:prstGeom>
          <a:solidFill>
            <a:srgbClr val="0A1A3F">
              <a:alpha val="90000"/>
            </a:srgbClr>
          </a:solidFill>
          <a:ln w="9525">
            <a:solidFill>
              <a:srgbClr val="8B7CFF">
                <a:alpha val="5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6492240" y="2286000"/>
            <a:ext cx="2029967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50" b="0" i="0">
                <a:solidFill>
                  <a:srgbClr val="C9D6F0"/>
                </a:solidFill>
                <a:latin typeface="Segoe UI"/>
              </a:rPr>
              <a:t>Gemini Flash (global): verify, classify,</a:t>
            </a:r>
          </a:p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50" b="0" i="0">
                <a:solidFill>
                  <a:srgbClr val="C9D6F0"/>
                </a:solidFill>
                <a:latin typeface="Segoe UI"/>
              </a:rPr>
              <a:t>strain, translate</a:t>
            </a:r>
          </a:p>
        </p:txBody>
      </p:sp>
      <p:sp>
        <p:nvSpPr>
          <p:cNvPr id="144" name="Rounded Rectangle 143"/>
          <p:cNvSpPr/>
          <p:nvPr/>
        </p:nvSpPr>
        <p:spPr>
          <a:xfrm>
            <a:off x="6400800" y="2651760"/>
            <a:ext cx="2194560" cy="329184"/>
          </a:xfrm>
          <a:prstGeom prst="roundRect">
            <a:avLst>
              <a:gd name="adj" fmla="val 19444"/>
            </a:avLst>
          </a:prstGeom>
          <a:solidFill>
            <a:srgbClr val="0A1A3F">
              <a:alpha val="90000"/>
            </a:srgbClr>
          </a:solidFill>
          <a:ln w="9525">
            <a:solidFill>
              <a:srgbClr val="8B7CFF">
                <a:alpha val="5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6492240" y="2651760"/>
            <a:ext cx="202996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50" b="0" i="0">
                <a:solidFill>
                  <a:srgbClr val="C9D6F0"/>
                </a:solidFill>
                <a:latin typeface="Segoe UI"/>
              </a:rPr>
              <a:t>Gemini TTS (offline): replay scammer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6263640" y="3200400"/>
            <a:ext cx="2468880" cy="960120"/>
          </a:xfrm>
          <a:prstGeom prst="roundRect">
            <a:avLst>
              <a:gd name="adj" fmla="val 13333"/>
            </a:avLst>
          </a:prstGeom>
          <a:solidFill>
            <a:srgbClr val="0B1428">
              <a:alpha val="78000"/>
            </a:srgbClr>
          </a:solidFill>
          <a:ln w="9525">
            <a:solidFill>
              <a:srgbClr val="1D3566">
                <a:alpha val="75000"/>
              </a:srgbClr>
            </a:solidFill>
          </a:ln>
          <a:effectLst>
            <a:glow rad="76200">
              <a:srgbClr val="37E0A0">
                <a:alpha val="14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6428231" y="3200400"/>
            <a:ext cx="548640" cy="41148"/>
          </a:xfrm>
          <a:prstGeom prst="rect">
            <a:avLst/>
          </a:prstGeom>
          <a:solidFill>
            <a:srgbClr val="37E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6428231" y="3310128"/>
            <a:ext cx="2194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F5F8FF"/>
                </a:solidFill>
                <a:latin typeface="Segoe UI Semibold"/>
              </a:rPr>
              <a:t>Data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6428231" y="3538728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37E0A0"/>
                </a:solidFill>
                <a:latin typeface="Segoe UI"/>
              </a:rPr>
              <a:t>private by default</a:t>
            </a:r>
          </a:p>
        </p:txBody>
      </p:sp>
      <p:sp>
        <p:nvSpPr>
          <p:cNvPr id="150" name="Rounded Rectangle 149"/>
          <p:cNvSpPr/>
          <p:nvPr/>
        </p:nvSpPr>
        <p:spPr>
          <a:xfrm>
            <a:off x="6400800" y="3675887"/>
            <a:ext cx="1097280" cy="384048"/>
          </a:xfrm>
          <a:prstGeom prst="roundRect">
            <a:avLst>
              <a:gd name="adj" fmla="val 16666"/>
            </a:avLst>
          </a:prstGeom>
          <a:solidFill>
            <a:srgbClr val="0A1A3F">
              <a:alpha val="90000"/>
            </a:srgbClr>
          </a:solidFill>
          <a:ln w="9525">
            <a:solidFill>
              <a:srgbClr val="37E0A0">
                <a:alpha val="5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6492240" y="3675887"/>
            <a:ext cx="93268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50" b="0" i="0">
                <a:solidFill>
                  <a:srgbClr val="C9D6F0"/>
                </a:solidFill>
                <a:latin typeface="Segoe UI"/>
              </a:rPr>
              <a:t>Firestore: deny-all, TTL</a:t>
            </a:r>
          </a:p>
        </p:txBody>
      </p:sp>
      <p:sp>
        <p:nvSpPr>
          <p:cNvPr id="152" name="Rounded Rectangle 151"/>
          <p:cNvSpPr/>
          <p:nvPr/>
        </p:nvSpPr>
        <p:spPr>
          <a:xfrm>
            <a:off x="7543800" y="3675887"/>
            <a:ext cx="1051560" cy="384048"/>
          </a:xfrm>
          <a:prstGeom prst="roundRect">
            <a:avLst>
              <a:gd name="adj" fmla="val 16666"/>
            </a:avLst>
          </a:prstGeom>
          <a:solidFill>
            <a:srgbClr val="0A1A3F">
              <a:alpha val="90000"/>
            </a:srgbClr>
          </a:solidFill>
          <a:ln w="9525">
            <a:solidFill>
              <a:srgbClr val="37E0A0">
                <a:alpha val="5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7635240" y="3675887"/>
            <a:ext cx="88696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50" b="0" i="0">
                <a:solidFill>
                  <a:srgbClr val="C9D6F0"/>
                </a:solidFill>
                <a:latin typeface="Segoe UI"/>
              </a:rPr>
              <a:t>Storage: 14-day delete</a:t>
            </a:r>
          </a:p>
        </p:txBody>
      </p:sp>
      <p:cxnSp>
        <p:nvCxnSpPr>
          <p:cNvPr id="154" name="Connector 153"/>
          <p:cNvCxnSpPr/>
          <p:nvPr/>
        </p:nvCxnSpPr>
        <p:spPr>
          <a:xfrm>
            <a:off x="2514600" y="2651760"/>
            <a:ext cx="731520" cy="0"/>
          </a:xfrm>
          <a:prstGeom prst="line">
            <a:avLst/>
          </a:prstGeom>
          <a:ln w="22225">
            <a:solidFill>
              <a:srgbClr val="38BDF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 flipH="1">
            <a:off x="2514600" y="2926080"/>
            <a:ext cx="731520" cy="0"/>
          </a:xfrm>
          <a:prstGeom prst="line">
            <a:avLst/>
          </a:prstGeom>
          <a:ln w="22225">
            <a:solidFill>
              <a:srgbClr val="38BDF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6" name="TextBox 155"/>
          <p:cNvSpPr txBox="1"/>
          <p:nvPr/>
        </p:nvSpPr>
        <p:spPr>
          <a:xfrm>
            <a:off x="2514600" y="228600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0000"/>
              </a:lnSpc>
              <a:spcAft>
                <a:spcPts val="0"/>
              </a:spcAft>
            </a:pPr>
            <a:r>
              <a:rPr sz="750" b="0" i="0">
                <a:solidFill>
                  <a:srgbClr val="9DB0D4"/>
                </a:solidFill>
                <a:latin typeface="Segoe UI"/>
              </a:rPr>
              <a:t>WSS audio</a:t>
            </a:r>
          </a:p>
          <a:p>
            <a:pPr algn="ctr">
              <a:lnSpc>
                <a:spcPct val="90000"/>
              </a:lnSpc>
              <a:spcAft>
                <a:spcPts val="0"/>
              </a:spcAft>
            </a:pPr>
            <a:r>
              <a:rPr sz="750" b="0" i="0">
                <a:solidFill>
                  <a:srgbClr val="9DB0D4"/>
                </a:solidFill>
                <a:latin typeface="Segoe UI"/>
              </a:rPr>
              <a:t>+ JSON</a:t>
            </a:r>
          </a:p>
        </p:txBody>
      </p:sp>
      <p:cxnSp>
        <p:nvCxnSpPr>
          <p:cNvPr id="157" name="Connector 156"/>
          <p:cNvCxnSpPr/>
          <p:nvPr/>
        </p:nvCxnSpPr>
        <p:spPr>
          <a:xfrm>
            <a:off x="5532120" y="2286000"/>
            <a:ext cx="731520" cy="0"/>
          </a:xfrm>
          <a:prstGeom prst="line">
            <a:avLst/>
          </a:prstGeom>
          <a:ln w="22225">
            <a:solidFill>
              <a:srgbClr val="8B7C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 flipH="1">
            <a:off x="5532120" y="2560320"/>
            <a:ext cx="731520" cy="0"/>
          </a:xfrm>
          <a:prstGeom prst="line">
            <a:avLst/>
          </a:prstGeom>
          <a:ln w="22225">
            <a:solidFill>
              <a:srgbClr val="8B7C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9" name="TextBox 158"/>
          <p:cNvSpPr txBox="1"/>
          <p:nvPr/>
        </p:nvSpPr>
        <p:spPr>
          <a:xfrm>
            <a:off x="5532120" y="192024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0000"/>
              </a:lnSpc>
              <a:spcAft>
                <a:spcPts val="0"/>
              </a:spcAft>
            </a:pPr>
            <a:r>
              <a:rPr sz="750" b="0" i="0">
                <a:solidFill>
                  <a:srgbClr val="9DB0D4"/>
                </a:solidFill>
                <a:latin typeface="Segoe UI"/>
              </a:rPr>
              <a:t>audio, tools</a:t>
            </a:r>
          </a:p>
          <a:p>
            <a:pPr algn="ctr">
              <a:lnSpc>
                <a:spcPct val="90000"/>
              </a:lnSpc>
              <a:spcAft>
                <a:spcPts val="0"/>
              </a:spcAft>
            </a:pPr>
            <a:r>
              <a:rPr sz="750" b="0" i="0">
                <a:solidFill>
                  <a:srgbClr val="9DB0D4"/>
                </a:solidFill>
                <a:latin typeface="Segoe UI"/>
              </a:rPr>
              <a:t>and JSON</a:t>
            </a:r>
          </a:p>
        </p:txBody>
      </p:sp>
      <p:cxnSp>
        <p:nvCxnSpPr>
          <p:cNvPr id="160" name="Connector 159"/>
          <p:cNvCxnSpPr/>
          <p:nvPr/>
        </p:nvCxnSpPr>
        <p:spPr>
          <a:xfrm>
            <a:off x="5532120" y="3794760"/>
            <a:ext cx="731520" cy="0"/>
          </a:xfrm>
          <a:prstGeom prst="line">
            <a:avLst/>
          </a:prstGeom>
          <a:ln w="22225">
            <a:solidFill>
              <a:srgbClr val="37E0A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1" name="TextBox 160"/>
          <p:cNvSpPr txBox="1"/>
          <p:nvPr/>
        </p:nvSpPr>
        <p:spPr>
          <a:xfrm>
            <a:off x="411480" y="4315968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 spc="160">
                <a:solidFill>
                  <a:srgbClr val="FBBF24"/>
                </a:solidFill>
                <a:latin typeface="Segoe UI Semibold"/>
              </a:rPr>
              <a:t>GUARDRAILS</a:t>
            </a:r>
          </a:p>
        </p:txBody>
      </p:sp>
      <p:sp>
        <p:nvSpPr>
          <p:cNvPr id="162" name="Rounded Rectangle 161"/>
          <p:cNvSpPr/>
          <p:nvPr/>
        </p:nvSpPr>
        <p:spPr>
          <a:xfrm>
            <a:off x="411480" y="4553712"/>
            <a:ext cx="1043147" cy="274320"/>
          </a:xfrm>
          <a:prstGeom prst="roundRect">
            <a:avLst>
              <a:gd name="adj" fmla="val 50000"/>
            </a:avLst>
          </a:prstGeom>
          <a:solidFill>
            <a:srgbClr val="FBBF24">
              <a:alpha val="14000"/>
            </a:srgbClr>
          </a:solidFill>
          <a:ln w="9525">
            <a:solidFill>
              <a:srgbClr val="FBBF24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411480" y="4553712"/>
            <a:ext cx="1043147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F5F8FF"/>
                </a:solidFill>
                <a:latin typeface="Segoe UI"/>
              </a:rPr>
              <a:t>Per-IP limit</a:t>
            </a:r>
          </a:p>
        </p:txBody>
      </p:sp>
      <p:sp>
        <p:nvSpPr>
          <p:cNvPr id="164" name="Rounded Rectangle 163"/>
          <p:cNvSpPr/>
          <p:nvPr/>
        </p:nvSpPr>
        <p:spPr>
          <a:xfrm>
            <a:off x="1546067" y="4553712"/>
            <a:ext cx="980602" cy="274320"/>
          </a:xfrm>
          <a:prstGeom prst="roundRect">
            <a:avLst>
              <a:gd name="adj" fmla="val 50000"/>
            </a:avLst>
          </a:prstGeom>
          <a:solidFill>
            <a:srgbClr val="FBBF24">
              <a:alpha val="14000"/>
            </a:srgbClr>
          </a:solidFill>
          <a:ln w="9525">
            <a:solidFill>
              <a:srgbClr val="FBBF24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1546067" y="4553712"/>
            <a:ext cx="98060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F5F8FF"/>
                </a:solidFill>
                <a:latin typeface="Segoe UI"/>
              </a:rPr>
              <a:t>Session cap</a:t>
            </a:r>
          </a:p>
        </p:txBody>
      </p:sp>
      <p:sp>
        <p:nvSpPr>
          <p:cNvPr id="166" name="Rounded Rectangle 165"/>
          <p:cNvSpPr/>
          <p:nvPr/>
        </p:nvSpPr>
        <p:spPr>
          <a:xfrm>
            <a:off x="2618110" y="4553712"/>
            <a:ext cx="1168237" cy="274320"/>
          </a:xfrm>
          <a:prstGeom prst="roundRect">
            <a:avLst>
              <a:gd name="adj" fmla="val 50000"/>
            </a:avLst>
          </a:prstGeom>
          <a:solidFill>
            <a:srgbClr val="FBBF24">
              <a:alpha val="14000"/>
            </a:srgbClr>
          </a:solidFill>
          <a:ln w="9525">
            <a:solidFill>
              <a:srgbClr val="FBBF24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2618110" y="4553712"/>
            <a:ext cx="1168237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F5F8FF"/>
                </a:solidFill>
                <a:latin typeface="Segoe UI"/>
              </a:rPr>
              <a:t>300 s call cap</a:t>
            </a:r>
          </a:p>
        </p:txBody>
      </p:sp>
      <p:sp>
        <p:nvSpPr>
          <p:cNvPr id="168" name="Rounded Rectangle 167"/>
          <p:cNvSpPr/>
          <p:nvPr/>
        </p:nvSpPr>
        <p:spPr>
          <a:xfrm>
            <a:off x="3877787" y="4553712"/>
            <a:ext cx="1230782" cy="274320"/>
          </a:xfrm>
          <a:prstGeom prst="roundRect">
            <a:avLst>
              <a:gd name="adj" fmla="val 50000"/>
            </a:avLst>
          </a:prstGeom>
          <a:solidFill>
            <a:srgbClr val="FBBF24">
              <a:alpha val="14000"/>
            </a:srgbClr>
          </a:solidFill>
          <a:ln w="9525">
            <a:solidFill>
              <a:srgbClr val="FBBF24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3877787" y="4553712"/>
            <a:ext cx="123078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F5F8FF"/>
                </a:solidFill>
                <a:latin typeface="Segoe UI"/>
              </a:rPr>
              <a:t>Max 3 instances</a:t>
            </a:r>
          </a:p>
        </p:txBody>
      </p:sp>
      <p:sp>
        <p:nvSpPr>
          <p:cNvPr id="170" name="Rounded Rectangle 169"/>
          <p:cNvSpPr/>
          <p:nvPr/>
        </p:nvSpPr>
        <p:spPr>
          <a:xfrm>
            <a:off x="5200009" y="4553712"/>
            <a:ext cx="980602" cy="274320"/>
          </a:xfrm>
          <a:prstGeom prst="roundRect">
            <a:avLst>
              <a:gd name="adj" fmla="val 50000"/>
            </a:avLst>
          </a:prstGeom>
          <a:solidFill>
            <a:srgbClr val="FBBF24">
              <a:alpha val="14000"/>
            </a:srgbClr>
          </a:solidFill>
          <a:ln w="9525">
            <a:solidFill>
              <a:srgbClr val="FBBF24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5200009" y="4553712"/>
            <a:ext cx="98060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F5F8FF"/>
                </a:solidFill>
                <a:latin typeface="Segoe UI"/>
              </a:rPr>
              <a:t>Kill switch</a:t>
            </a:r>
          </a:p>
        </p:txBody>
      </p:sp>
      <p:sp>
        <p:nvSpPr>
          <p:cNvPr id="172" name="Rounded Rectangle 171"/>
          <p:cNvSpPr/>
          <p:nvPr/>
        </p:nvSpPr>
        <p:spPr>
          <a:xfrm>
            <a:off x="6272052" y="4553712"/>
            <a:ext cx="1105692" cy="274320"/>
          </a:xfrm>
          <a:prstGeom prst="roundRect">
            <a:avLst>
              <a:gd name="adj" fmla="val 50000"/>
            </a:avLst>
          </a:prstGeom>
          <a:solidFill>
            <a:srgbClr val="FBBF24">
              <a:alpha val="14000"/>
            </a:srgbClr>
          </a:solidFill>
          <a:ln w="9525">
            <a:solidFill>
              <a:srgbClr val="FBBF24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6272052" y="4553712"/>
            <a:ext cx="110569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F5F8FF"/>
                </a:solidFill>
                <a:latin typeface="Segoe UI"/>
              </a:rPr>
              <a:t>Budget alerts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4070F"/>
        </a:solidFill>
        <a:effectLst/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Picture 118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116" name="Google Shape;116;p21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21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1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TextBox 119"/>
          <p:cNvSpPr txBox="1"/>
          <p:nvPr/>
        </p:nvSpPr>
        <p:spPr>
          <a:xfrm>
            <a:off x="411480" y="676656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 spc="160">
                <a:solidFill>
                  <a:srgbClr val="38BDF8"/>
                </a:solidFill>
                <a:latin typeface="Segoe UI Semibold"/>
              </a:rPr>
              <a:t>TECHNOLOGIES USED IN THE SOLUTION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411480" y="850392"/>
            <a:ext cx="8321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F5F8FF"/>
                </a:solidFill>
                <a:latin typeface="Segoe UI Semibold"/>
              </a:rPr>
              <a:t>A Google-first stack, tested end to end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411480" y="1371600"/>
            <a:ext cx="2697480" cy="3017520"/>
          </a:xfrm>
          <a:prstGeom prst="roundRect">
            <a:avLst>
              <a:gd name="adj" fmla="val 4745"/>
            </a:avLst>
          </a:prstGeom>
          <a:solidFill>
            <a:srgbClr val="0B1428">
              <a:alpha val="78000"/>
            </a:srgbClr>
          </a:solidFill>
          <a:ln w="9525">
            <a:solidFill>
              <a:srgbClr val="1D3566">
                <a:alpha val="75000"/>
              </a:srgbClr>
            </a:solidFill>
          </a:ln>
          <a:effectLst>
            <a:glow rad="76200">
              <a:srgbClr val="38BDF8">
                <a:alpha val="14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594360" y="1371600"/>
            <a:ext cx="640080" cy="4572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594360" y="1554480"/>
            <a:ext cx="2331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 spc="140">
                <a:solidFill>
                  <a:srgbClr val="38BDF8"/>
                </a:solidFill>
                <a:latin typeface="Segoe UI Semibold"/>
              </a:rPr>
              <a:t>GOOGLE CLOUD AND AI</a:t>
            </a:r>
          </a:p>
        </p:txBody>
      </p:sp>
      <p:sp>
        <p:nvSpPr>
          <p:cNvPr id="125" name="Rounded Rectangle 124"/>
          <p:cNvSpPr/>
          <p:nvPr/>
        </p:nvSpPr>
        <p:spPr>
          <a:xfrm>
            <a:off x="594360" y="1901952"/>
            <a:ext cx="1246327" cy="274320"/>
          </a:xfrm>
          <a:prstGeom prst="roundRect">
            <a:avLst>
              <a:gd name="adj" fmla="val 50000"/>
            </a:avLst>
          </a:prstGeom>
          <a:solidFill>
            <a:srgbClr val="38BDF8">
              <a:alpha val="14000"/>
            </a:srgbClr>
          </a:solidFill>
          <a:ln w="9525">
            <a:solidFill>
              <a:srgbClr val="38BDF8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594360" y="1901952"/>
            <a:ext cx="1246327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F5F8FF"/>
                </a:solidFill>
                <a:latin typeface="Segoe UI"/>
              </a:rPr>
              <a:t>Gemini Live API</a:t>
            </a:r>
          </a:p>
        </p:txBody>
      </p:sp>
      <p:sp>
        <p:nvSpPr>
          <p:cNvPr id="127" name="Rounded Rectangle 126"/>
          <p:cNvSpPr/>
          <p:nvPr/>
        </p:nvSpPr>
        <p:spPr>
          <a:xfrm>
            <a:off x="594360" y="2267712"/>
            <a:ext cx="1048268" cy="274320"/>
          </a:xfrm>
          <a:prstGeom prst="roundRect">
            <a:avLst>
              <a:gd name="adj" fmla="val 50000"/>
            </a:avLst>
          </a:prstGeom>
          <a:solidFill>
            <a:srgbClr val="38BDF8">
              <a:alpha val="14000"/>
            </a:srgbClr>
          </a:solidFill>
          <a:ln w="9525">
            <a:solidFill>
              <a:srgbClr val="38BDF8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594360" y="2267712"/>
            <a:ext cx="104826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F5F8FF"/>
                </a:solidFill>
                <a:latin typeface="Segoe UI"/>
              </a:rPr>
              <a:t>Gemini Flash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1734068" y="2267712"/>
            <a:ext cx="916228" cy="274320"/>
          </a:xfrm>
          <a:prstGeom prst="roundRect">
            <a:avLst>
              <a:gd name="adj" fmla="val 50000"/>
            </a:avLst>
          </a:prstGeom>
          <a:solidFill>
            <a:srgbClr val="38BDF8">
              <a:alpha val="14000"/>
            </a:srgbClr>
          </a:solidFill>
          <a:ln w="9525">
            <a:solidFill>
              <a:srgbClr val="38BDF8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1734068" y="2267712"/>
            <a:ext cx="91622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F5F8FF"/>
                </a:solidFill>
                <a:latin typeface="Segoe UI"/>
              </a:rPr>
              <a:t>Gemini TTS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594360" y="2633472"/>
            <a:ext cx="850209" cy="274320"/>
          </a:xfrm>
          <a:prstGeom prst="roundRect">
            <a:avLst>
              <a:gd name="adj" fmla="val 50000"/>
            </a:avLst>
          </a:prstGeom>
          <a:solidFill>
            <a:srgbClr val="38BDF8">
              <a:alpha val="14000"/>
            </a:srgbClr>
          </a:solidFill>
          <a:ln w="9525">
            <a:solidFill>
              <a:srgbClr val="38BDF8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594360" y="2633472"/>
            <a:ext cx="850209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F5F8FF"/>
                </a:solidFill>
                <a:latin typeface="Segoe UI"/>
              </a:rPr>
              <a:t>Vertex AI</a:t>
            </a:r>
          </a:p>
        </p:txBody>
      </p:sp>
      <p:sp>
        <p:nvSpPr>
          <p:cNvPr id="133" name="Rounded Rectangle 132"/>
          <p:cNvSpPr/>
          <p:nvPr/>
        </p:nvSpPr>
        <p:spPr>
          <a:xfrm>
            <a:off x="1536009" y="2633472"/>
            <a:ext cx="850209" cy="274320"/>
          </a:xfrm>
          <a:prstGeom prst="roundRect">
            <a:avLst>
              <a:gd name="adj" fmla="val 50000"/>
            </a:avLst>
          </a:prstGeom>
          <a:solidFill>
            <a:srgbClr val="38BDF8">
              <a:alpha val="14000"/>
            </a:srgbClr>
          </a:solidFill>
          <a:ln w="9525">
            <a:solidFill>
              <a:srgbClr val="38BDF8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1536009" y="2633472"/>
            <a:ext cx="850209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F5F8FF"/>
                </a:solidFill>
                <a:latin typeface="Segoe UI"/>
              </a:rPr>
              <a:t>Cloud Run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594360" y="2999232"/>
            <a:ext cx="1312346" cy="274320"/>
          </a:xfrm>
          <a:prstGeom prst="roundRect">
            <a:avLst>
              <a:gd name="adj" fmla="val 50000"/>
            </a:avLst>
          </a:prstGeom>
          <a:solidFill>
            <a:srgbClr val="38BDF8">
              <a:alpha val="14000"/>
            </a:srgbClr>
          </a:solidFill>
          <a:ln w="9525">
            <a:solidFill>
              <a:srgbClr val="38BDF8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594360" y="2999232"/>
            <a:ext cx="131234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F5F8FF"/>
                </a:solidFill>
                <a:latin typeface="Segoe UI"/>
              </a:rPr>
              <a:t>Firebase Hosting</a:t>
            </a:r>
          </a:p>
        </p:txBody>
      </p:sp>
      <p:sp>
        <p:nvSpPr>
          <p:cNvPr id="137" name="Rounded Rectangle 136"/>
          <p:cNvSpPr/>
          <p:nvPr/>
        </p:nvSpPr>
        <p:spPr>
          <a:xfrm>
            <a:off x="594360" y="3364991"/>
            <a:ext cx="1246327" cy="274320"/>
          </a:xfrm>
          <a:prstGeom prst="roundRect">
            <a:avLst>
              <a:gd name="adj" fmla="val 50000"/>
            </a:avLst>
          </a:prstGeom>
          <a:solidFill>
            <a:srgbClr val="38BDF8">
              <a:alpha val="14000"/>
            </a:srgbClr>
          </a:solidFill>
          <a:ln w="9525">
            <a:solidFill>
              <a:srgbClr val="38BDF8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594360" y="3364991"/>
            <a:ext cx="1246327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F5F8FF"/>
                </a:solidFill>
                <a:latin typeface="Segoe UI"/>
              </a:rPr>
              <a:t>Firestore (TTL)</a:t>
            </a:r>
          </a:p>
        </p:txBody>
      </p:sp>
      <p:sp>
        <p:nvSpPr>
          <p:cNvPr id="139" name="Rounded Rectangle 138"/>
          <p:cNvSpPr/>
          <p:nvPr/>
        </p:nvSpPr>
        <p:spPr>
          <a:xfrm>
            <a:off x="594360" y="3730751"/>
            <a:ext cx="1114287" cy="274320"/>
          </a:xfrm>
          <a:prstGeom prst="roundRect">
            <a:avLst>
              <a:gd name="adj" fmla="val 50000"/>
            </a:avLst>
          </a:prstGeom>
          <a:solidFill>
            <a:srgbClr val="38BDF8">
              <a:alpha val="14000"/>
            </a:srgbClr>
          </a:solidFill>
          <a:ln w="9525">
            <a:solidFill>
              <a:srgbClr val="38BDF8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594360" y="3730751"/>
            <a:ext cx="1114287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F5F8FF"/>
                </a:solidFill>
                <a:latin typeface="Segoe UI"/>
              </a:rPr>
              <a:t>Cloud Storage</a:t>
            </a:r>
          </a:p>
        </p:txBody>
      </p:sp>
      <p:sp>
        <p:nvSpPr>
          <p:cNvPr id="141" name="Rounded Rectangle 140"/>
          <p:cNvSpPr/>
          <p:nvPr/>
        </p:nvSpPr>
        <p:spPr>
          <a:xfrm>
            <a:off x="1800087" y="3730751"/>
            <a:ext cx="1114287" cy="274320"/>
          </a:xfrm>
          <a:prstGeom prst="roundRect">
            <a:avLst>
              <a:gd name="adj" fmla="val 50000"/>
            </a:avLst>
          </a:prstGeom>
          <a:solidFill>
            <a:srgbClr val="38BDF8">
              <a:alpha val="14000"/>
            </a:srgbClr>
          </a:solidFill>
          <a:ln w="9525">
            <a:solidFill>
              <a:srgbClr val="38BDF8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1800087" y="3730751"/>
            <a:ext cx="1114287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F5F8FF"/>
                </a:solidFill>
                <a:latin typeface="Segoe UI"/>
              </a:rPr>
              <a:t>Cloud Logging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594360" y="4096511"/>
            <a:ext cx="1246327" cy="274320"/>
          </a:xfrm>
          <a:prstGeom prst="roundRect">
            <a:avLst>
              <a:gd name="adj" fmla="val 50000"/>
            </a:avLst>
          </a:prstGeom>
          <a:solidFill>
            <a:srgbClr val="38BDF8">
              <a:alpha val="14000"/>
            </a:srgbClr>
          </a:solidFill>
          <a:ln w="9525">
            <a:solidFill>
              <a:srgbClr val="38BDF8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594360" y="4096511"/>
            <a:ext cx="1246327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F5F8FF"/>
                </a:solidFill>
                <a:latin typeface="Segoe UI"/>
              </a:rPr>
              <a:t>Billing budgets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3223260" y="1371600"/>
            <a:ext cx="2697480" cy="3017520"/>
          </a:xfrm>
          <a:prstGeom prst="roundRect">
            <a:avLst>
              <a:gd name="adj" fmla="val 4745"/>
            </a:avLst>
          </a:prstGeom>
          <a:solidFill>
            <a:srgbClr val="0B1428">
              <a:alpha val="78000"/>
            </a:srgbClr>
          </a:solidFill>
          <a:ln w="9525">
            <a:solidFill>
              <a:srgbClr val="1D3566">
                <a:alpha val="75000"/>
              </a:srgbClr>
            </a:solidFill>
          </a:ln>
          <a:effectLst>
            <a:glow rad="76200">
              <a:srgbClr val="8B7CFF">
                <a:alpha val="14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3406140" y="1371600"/>
            <a:ext cx="640080" cy="45720"/>
          </a:xfrm>
          <a:prstGeom prst="rect">
            <a:avLst/>
          </a:prstGeom>
          <a:solidFill>
            <a:srgbClr val="8B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3406140" y="1554480"/>
            <a:ext cx="2331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 spc="140">
                <a:solidFill>
                  <a:srgbClr val="8B7CFF"/>
                </a:solidFill>
                <a:latin typeface="Segoe UI Semibold"/>
              </a:rPr>
              <a:t>APPLICATION</a:t>
            </a:r>
          </a:p>
        </p:txBody>
      </p:sp>
      <p:sp>
        <p:nvSpPr>
          <p:cNvPr id="148" name="Rounded Rectangle 147"/>
          <p:cNvSpPr/>
          <p:nvPr/>
        </p:nvSpPr>
        <p:spPr>
          <a:xfrm>
            <a:off x="3406140" y="1901952"/>
            <a:ext cx="652150" cy="274320"/>
          </a:xfrm>
          <a:prstGeom prst="roundRect">
            <a:avLst>
              <a:gd name="adj" fmla="val 50000"/>
            </a:avLst>
          </a:prstGeom>
          <a:solidFill>
            <a:srgbClr val="8B7CFF">
              <a:alpha val="14000"/>
            </a:srgbClr>
          </a:solidFill>
          <a:ln w="9525">
            <a:solidFill>
              <a:srgbClr val="8B7C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3406140" y="1901952"/>
            <a:ext cx="65215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F5F8FF"/>
                </a:solidFill>
                <a:latin typeface="Segoe UI"/>
              </a:rPr>
              <a:t>Python</a:t>
            </a:r>
          </a:p>
        </p:txBody>
      </p:sp>
      <p:sp>
        <p:nvSpPr>
          <p:cNvPr id="150" name="Rounded Rectangle 149"/>
          <p:cNvSpPr/>
          <p:nvPr/>
        </p:nvSpPr>
        <p:spPr>
          <a:xfrm>
            <a:off x="4149730" y="1901952"/>
            <a:ext cx="718169" cy="274320"/>
          </a:xfrm>
          <a:prstGeom prst="roundRect">
            <a:avLst>
              <a:gd name="adj" fmla="val 50000"/>
            </a:avLst>
          </a:prstGeom>
          <a:solidFill>
            <a:srgbClr val="8B7CFF">
              <a:alpha val="14000"/>
            </a:srgbClr>
          </a:solidFill>
          <a:ln w="9525">
            <a:solidFill>
              <a:srgbClr val="8B7C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4149730" y="1901952"/>
            <a:ext cx="718169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F5F8FF"/>
                </a:solidFill>
                <a:latin typeface="Segoe UI"/>
              </a:rPr>
              <a:t>FastAPI</a:t>
            </a:r>
          </a:p>
        </p:txBody>
      </p:sp>
      <p:sp>
        <p:nvSpPr>
          <p:cNvPr id="152" name="Rounded Rectangle 151"/>
          <p:cNvSpPr/>
          <p:nvPr/>
        </p:nvSpPr>
        <p:spPr>
          <a:xfrm>
            <a:off x="3406140" y="2267712"/>
            <a:ext cx="916228" cy="274320"/>
          </a:xfrm>
          <a:prstGeom prst="roundRect">
            <a:avLst>
              <a:gd name="adj" fmla="val 50000"/>
            </a:avLst>
          </a:prstGeom>
          <a:solidFill>
            <a:srgbClr val="8B7CFF">
              <a:alpha val="14000"/>
            </a:srgbClr>
          </a:solidFill>
          <a:ln w="9525">
            <a:solidFill>
              <a:srgbClr val="8B7C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3406140" y="2267712"/>
            <a:ext cx="91622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F5F8FF"/>
                </a:solidFill>
                <a:latin typeface="Segoe UI"/>
              </a:rPr>
              <a:t>WebSockets</a:t>
            </a:r>
          </a:p>
        </p:txBody>
      </p:sp>
      <p:sp>
        <p:nvSpPr>
          <p:cNvPr id="154" name="Rounded Rectangle 153"/>
          <p:cNvSpPr/>
          <p:nvPr/>
        </p:nvSpPr>
        <p:spPr>
          <a:xfrm>
            <a:off x="4413808" y="2267712"/>
            <a:ext cx="784189" cy="274320"/>
          </a:xfrm>
          <a:prstGeom prst="roundRect">
            <a:avLst>
              <a:gd name="adj" fmla="val 50000"/>
            </a:avLst>
          </a:prstGeom>
          <a:solidFill>
            <a:srgbClr val="8B7CFF">
              <a:alpha val="14000"/>
            </a:srgbClr>
          </a:solidFill>
          <a:ln w="9525">
            <a:solidFill>
              <a:srgbClr val="8B7C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4413808" y="2267712"/>
            <a:ext cx="784189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F5F8FF"/>
                </a:solidFill>
                <a:latin typeface="Segoe UI"/>
              </a:rPr>
              <a:t>Pydantic</a:t>
            </a:r>
          </a:p>
        </p:txBody>
      </p:sp>
      <p:sp>
        <p:nvSpPr>
          <p:cNvPr id="156" name="Rounded Rectangle 155"/>
          <p:cNvSpPr/>
          <p:nvPr/>
        </p:nvSpPr>
        <p:spPr>
          <a:xfrm>
            <a:off x="3406140" y="2633472"/>
            <a:ext cx="916228" cy="274320"/>
          </a:xfrm>
          <a:prstGeom prst="roundRect">
            <a:avLst>
              <a:gd name="adj" fmla="val 50000"/>
            </a:avLst>
          </a:prstGeom>
          <a:solidFill>
            <a:srgbClr val="8B7CFF">
              <a:alpha val="14000"/>
            </a:srgbClr>
          </a:solidFill>
          <a:ln w="9525">
            <a:solidFill>
              <a:srgbClr val="8B7C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3406140" y="2633472"/>
            <a:ext cx="91622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F5F8FF"/>
                </a:solidFill>
                <a:latin typeface="Segoe UI"/>
              </a:rPr>
              <a:t>ES modules</a:t>
            </a:r>
          </a:p>
        </p:txBody>
      </p:sp>
      <p:sp>
        <p:nvSpPr>
          <p:cNvPr id="158" name="Rounded Rectangle 157"/>
          <p:cNvSpPr/>
          <p:nvPr/>
        </p:nvSpPr>
        <p:spPr>
          <a:xfrm>
            <a:off x="4413808" y="2633472"/>
            <a:ext cx="850209" cy="274320"/>
          </a:xfrm>
          <a:prstGeom prst="roundRect">
            <a:avLst>
              <a:gd name="adj" fmla="val 50000"/>
            </a:avLst>
          </a:prstGeom>
          <a:solidFill>
            <a:srgbClr val="8B7CFF">
              <a:alpha val="14000"/>
            </a:srgbClr>
          </a:solidFill>
          <a:ln w="9525">
            <a:solidFill>
              <a:srgbClr val="8B7C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4413808" y="2633472"/>
            <a:ext cx="850209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F5F8FF"/>
                </a:solidFill>
                <a:latin typeface="Segoe UI"/>
              </a:rPr>
              <a:t>Web Audio</a:t>
            </a:r>
          </a:p>
        </p:txBody>
      </p:sp>
      <p:sp>
        <p:nvSpPr>
          <p:cNvPr id="160" name="Rounded Rectangle 159"/>
          <p:cNvSpPr/>
          <p:nvPr/>
        </p:nvSpPr>
        <p:spPr>
          <a:xfrm>
            <a:off x="3406140" y="2999232"/>
            <a:ext cx="1048268" cy="274320"/>
          </a:xfrm>
          <a:prstGeom prst="roundRect">
            <a:avLst>
              <a:gd name="adj" fmla="val 50000"/>
            </a:avLst>
          </a:prstGeom>
          <a:solidFill>
            <a:srgbClr val="8B7CFF">
              <a:alpha val="14000"/>
            </a:srgbClr>
          </a:solidFill>
          <a:ln w="9525">
            <a:solidFill>
              <a:srgbClr val="8B7C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3406140" y="2999232"/>
            <a:ext cx="104826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F5F8FF"/>
                </a:solidFill>
                <a:latin typeface="Segoe UI"/>
              </a:rPr>
              <a:t>AudioWorklet</a:t>
            </a:r>
          </a:p>
        </p:txBody>
      </p:sp>
      <p:sp>
        <p:nvSpPr>
          <p:cNvPr id="162" name="Rounded Rectangle 161"/>
          <p:cNvSpPr/>
          <p:nvPr/>
        </p:nvSpPr>
        <p:spPr>
          <a:xfrm>
            <a:off x="4545848" y="2999232"/>
            <a:ext cx="916228" cy="274320"/>
          </a:xfrm>
          <a:prstGeom prst="roundRect">
            <a:avLst>
              <a:gd name="adj" fmla="val 50000"/>
            </a:avLst>
          </a:prstGeom>
          <a:solidFill>
            <a:srgbClr val="8B7CFF">
              <a:alpha val="14000"/>
            </a:srgbClr>
          </a:solidFill>
          <a:ln w="9525">
            <a:solidFill>
              <a:srgbClr val="8B7C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4545848" y="2999232"/>
            <a:ext cx="91622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F5F8FF"/>
                </a:solidFill>
                <a:latin typeface="Segoe UI"/>
              </a:rPr>
              <a:t>WebGL2 orb</a:t>
            </a:r>
          </a:p>
        </p:txBody>
      </p:sp>
      <p:sp>
        <p:nvSpPr>
          <p:cNvPr id="164" name="Rounded Rectangle 163"/>
          <p:cNvSpPr/>
          <p:nvPr/>
        </p:nvSpPr>
        <p:spPr>
          <a:xfrm>
            <a:off x="3406140" y="3364991"/>
            <a:ext cx="916228" cy="274320"/>
          </a:xfrm>
          <a:prstGeom prst="roundRect">
            <a:avLst>
              <a:gd name="adj" fmla="val 50000"/>
            </a:avLst>
          </a:prstGeom>
          <a:solidFill>
            <a:srgbClr val="8B7CFF">
              <a:alpha val="14000"/>
            </a:srgbClr>
          </a:solidFill>
          <a:ln w="9525">
            <a:solidFill>
              <a:srgbClr val="8B7C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3406140" y="3364991"/>
            <a:ext cx="91622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F5F8FF"/>
                </a:solidFill>
                <a:latin typeface="Segoe UI"/>
              </a:rPr>
              <a:t>Strict CSP</a:t>
            </a:r>
          </a:p>
        </p:txBody>
      </p:sp>
      <p:sp>
        <p:nvSpPr>
          <p:cNvPr id="166" name="Rounded Rectangle 165"/>
          <p:cNvSpPr/>
          <p:nvPr/>
        </p:nvSpPr>
        <p:spPr>
          <a:xfrm>
            <a:off x="6035040" y="1371600"/>
            <a:ext cx="2697480" cy="3017520"/>
          </a:xfrm>
          <a:prstGeom prst="roundRect">
            <a:avLst>
              <a:gd name="adj" fmla="val 4745"/>
            </a:avLst>
          </a:prstGeom>
          <a:solidFill>
            <a:srgbClr val="0B1428">
              <a:alpha val="78000"/>
            </a:srgbClr>
          </a:solidFill>
          <a:ln w="9525">
            <a:solidFill>
              <a:srgbClr val="1D3566">
                <a:alpha val="75000"/>
              </a:srgbClr>
            </a:solidFill>
          </a:ln>
          <a:effectLst>
            <a:glow rad="76200">
              <a:srgbClr val="37E0A0">
                <a:alpha val="14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6217920" y="1371600"/>
            <a:ext cx="640080" cy="45720"/>
          </a:xfrm>
          <a:prstGeom prst="rect">
            <a:avLst/>
          </a:prstGeom>
          <a:solidFill>
            <a:srgbClr val="37E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6217920" y="1554480"/>
            <a:ext cx="2331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 spc="140">
                <a:solidFill>
                  <a:srgbClr val="37E0A0"/>
                </a:solidFill>
                <a:latin typeface="Segoe UI Semibold"/>
              </a:rPr>
              <a:t>QUALITY AND SAFETY</a:t>
            </a:r>
          </a:p>
        </p:txBody>
      </p:sp>
      <p:sp>
        <p:nvSpPr>
          <p:cNvPr id="169" name="Rounded Rectangle 168"/>
          <p:cNvSpPr/>
          <p:nvPr/>
        </p:nvSpPr>
        <p:spPr>
          <a:xfrm>
            <a:off x="6217920" y="1901952"/>
            <a:ext cx="1840504" cy="274320"/>
          </a:xfrm>
          <a:prstGeom prst="roundRect">
            <a:avLst>
              <a:gd name="adj" fmla="val 50000"/>
            </a:avLst>
          </a:prstGeom>
          <a:solidFill>
            <a:srgbClr val="37E0A0">
              <a:alpha val="14000"/>
            </a:srgbClr>
          </a:solidFill>
          <a:ln w="9525">
            <a:solidFill>
              <a:srgbClr val="37E0A0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6217920" y="1901952"/>
            <a:ext cx="1840504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F5F8FF"/>
                </a:solidFill>
                <a:latin typeface="Segoe UI"/>
              </a:rPr>
              <a:t>Deterministic validators</a:t>
            </a:r>
          </a:p>
        </p:txBody>
      </p:sp>
      <p:sp>
        <p:nvSpPr>
          <p:cNvPr id="171" name="Rounded Rectangle 170"/>
          <p:cNvSpPr/>
          <p:nvPr/>
        </p:nvSpPr>
        <p:spPr>
          <a:xfrm>
            <a:off x="6217920" y="2267712"/>
            <a:ext cx="1510405" cy="274320"/>
          </a:xfrm>
          <a:prstGeom prst="roundRect">
            <a:avLst>
              <a:gd name="adj" fmla="val 50000"/>
            </a:avLst>
          </a:prstGeom>
          <a:solidFill>
            <a:srgbClr val="37E0A0">
              <a:alpha val="14000"/>
            </a:srgbClr>
          </a:solidFill>
          <a:ln w="9525">
            <a:solidFill>
              <a:srgbClr val="37E0A0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6217920" y="2267712"/>
            <a:ext cx="1510405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F5F8FF"/>
                </a:solidFill>
                <a:latin typeface="Segoe UI"/>
              </a:rPr>
              <a:t>114 automated tests</a:t>
            </a:r>
          </a:p>
        </p:txBody>
      </p:sp>
      <p:sp>
        <p:nvSpPr>
          <p:cNvPr id="173" name="Rounded Rectangle 172"/>
          <p:cNvSpPr/>
          <p:nvPr/>
        </p:nvSpPr>
        <p:spPr>
          <a:xfrm>
            <a:off x="6217920" y="2633472"/>
            <a:ext cx="1444386" cy="274320"/>
          </a:xfrm>
          <a:prstGeom prst="roundRect">
            <a:avLst>
              <a:gd name="adj" fmla="val 50000"/>
            </a:avLst>
          </a:prstGeom>
          <a:solidFill>
            <a:srgbClr val="37E0A0">
              <a:alpha val="14000"/>
            </a:srgbClr>
          </a:solidFill>
          <a:ln w="9525">
            <a:solidFill>
              <a:srgbClr val="37E0A0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6217920" y="2633472"/>
            <a:ext cx="144438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F5F8FF"/>
                </a:solidFill>
                <a:latin typeface="Segoe UI"/>
              </a:rPr>
              <a:t>42-prompt red-team</a:t>
            </a:r>
          </a:p>
        </p:txBody>
      </p:sp>
      <p:sp>
        <p:nvSpPr>
          <p:cNvPr id="175" name="Rounded Rectangle 174"/>
          <p:cNvSpPr/>
          <p:nvPr/>
        </p:nvSpPr>
        <p:spPr>
          <a:xfrm>
            <a:off x="6217920" y="2999232"/>
            <a:ext cx="1444386" cy="274320"/>
          </a:xfrm>
          <a:prstGeom prst="roundRect">
            <a:avLst>
              <a:gd name="adj" fmla="val 50000"/>
            </a:avLst>
          </a:prstGeom>
          <a:solidFill>
            <a:srgbClr val="37E0A0">
              <a:alpha val="14000"/>
            </a:srgbClr>
          </a:solidFill>
          <a:ln w="9525">
            <a:solidFill>
              <a:srgbClr val="37E0A0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6217920" y="2999232"/>
            <a:ext cx="144438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F5F8FF"/>
                </a:solidFill>
                <a:latin typeface="Segoe UI"/>
              </a:rPr>
              <a:t>ICFD-31k benchmark</a:t>
            </a:r>
          </a:p>
        </p:txBody>
      </p:sp>
      <p:sp>
        <p:nvSpPr>
          <p:cNvPr id="177" name="Rounded Rectangle 176"/>
          <p:cNvSpPr/>
          <p:nvPr/>
        </p:nvSpPr>
        <p:spPr>
          <a:xfrm>
            <a:off x="6217920" y="3364991"/>
            <a:ext cx="1642445" cy="274320"/>
          </a:xfrm>
          <a:prstGeom prst="roundRect">
            <a:avLst>
              <a:gd name="adj" fmla="val 50000"/>
            </a:avLst>
          </a:prstGeom>
          <a:solidFill>
            <a:srgbClr val="37E0A0">
              <a:alpha val="14000"/>
            </a:srgbClr>
          </a:solidFill>
          <a:ln w="9525">
            <a:solidFill>
              <a:srgbClr val="37E0A0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6217920" y="3364991"/>
            <a:ext cx="1642445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F5F8FF"/>
                </a:solidFill>
                <a:latin typeface="Segoe UI"/>
              </a:rPr>
              <a:t>Decoy variety metrics</a:t>
            </a:r>
          </a:p>
        </p:txBody>
      </p:sp>
      <p:sp>
        <p:nvSpPr>
          <p:cNvPr id="179" name="Rounded Rectangle 178"/>
          <p:cNvSpPr/>
          <p:nvPr/>
        </p:nvSpPr>
        <p:spPr>
          <a:xfrm>
            <a:off x="6217920" y="3730751"/>
            <a:ext cx="1576425" cy="274320"/>
          </a:xfrm>
          <a:prstGeom prst="roundRect">
            <a:avLst>
              <a:gd name="adj" fmla="val 50000"/>
            </a:avLst>
          </a:prstGeom>
          <a:solidFill>
            <a:srgbClr val="37E0A0">
              <a:alpha val="14000"/>
            </a:srgbClr>
          </a:solidFill>
          <a:ln w="9525">
            <a:solidFill>
              <a:srgbClr val="37E0A0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6217920" y="3730751"/>
            <a:ext cx="1576425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F5F8FF"/>
                </a:solidFill>
                <a:latin typeface="Segoe UI"/>
              </a:rPr>
              <a:t>Consent-first drills</a:t>
            </a:r>
          </a:p>
        </p:txBody>
      </p:sp>
      <p:sp>
        <p:nvSpPr>
          <p:cNvPr id="181" name="Rounded Rectangle 180"/>
          <p:cNvSpPr/>
          <p:nvPr/>
        </p:nvSpPr>
        <p:spPr>
          <a:xfrm>
            <a:off x="6217920" y="4096511"/>
            <a:ext cx="1246327" cy="274320"/>
          </a:xfrm>
          <a:prstGeom prst="roundRect">
            <a:avLst>
              <a:gd name="adj" fmla="val 50000"/>
            </a:avLst>
          </a:prstGeom>
          <a:solidFill>
            <a:srgbClr val="37E0A0">
              <a:alpha val="14000"/>
            </a:srgbClr>
          </a:solidFill>
          <a:ln w="9525">
            <a:solidFill>
              <a:srgbClr val="37E0A0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TextBox 181"/>
          <p:cNvSpPr txBox="1"/>
          <p:nvPr/>
        </p:nvSpPr>
        <p:spPr>
          <a:xfrm>
            <a:off x="6217920" y="4096511"/>
            <a:ext cx="1246327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F5F8FF"/>
                </a:solidFill>
                <a:latin typeface="Segoe UI"/>
              </a:rPr>
              <a:t>14-day deletion</a:t>
            </a:r>
          </a:p>
        </p:txBody>
      </p:sp>
      <p:sp>
        <p:nvSpPr>
          <p:cNvPr id="183" name="Rounded Rectangle 182"/>
          <p:cNvSpPr/>
          <p:nvPr/>
        </p:nvSpPr>
        <p:spPr>
          <a:xfrm>
            <a:off x="411480" y="4526280"/>
            <a:ext cx="8321040" cy="365760"/>
          </a:xfrm>
          <a:prstGeom prst="roundRect">
            <a:avLst>
              <a:gd name="adj" fmla="val 50000"/>
            </a:avLst>
          </a:prstGeom>
          <a:solidFill>
            <a:srgbClr val="3B82F6">
              <a:alpha val="14000"/>
            </a:srgbClr>
          </a:solidFill>
          <a:ln w="9525">
            <a:solidFill>
              <a:srgbClr val="3B82F6">
                <a:alpha val="5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TextBox 183"/>
          <p:cNvSpPr txBox="1"/>
          <p:nvPr/>
        </p:nvSpPr>
        <p:spPr>
          <a:xfrm>
            <a:off x="548640" y="4526280"/>
            <a:ext cx="80467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38BDF8"/>
                </a:solidFill>
                <a:latin typeface="Segoe UI Semibold"/>
              </a:rPr>
              <a:t>Google AI only inside the product. </a:t>
            </a:r>
            <a:r>
              <a:rPr sz="1000" b="0" i="0">
                <a:solidFill>
                  <a:srgbClr val="F5F8FF"/>
                </a:solidFill>
                <a:latin typeface="Segoe UI"/>
              </a:rPr>
              <a:t>No non-Google model runs in Stallwart.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4070F"/>
        </a:solidFill>
        <a:effectLst/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Picture 126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124" name="Google Shape;124;p22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22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2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TextBox 127"/>
          <p:cNvSpPr txBox="1"/>
          <p:nvPr/>
        </p:nvSpPr>
        <p:spPr>
          <a:xfrm>
            <a:off x="411480" y="676656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 spc="160">
                <a:solidFill>
                  <a:srgbClr val="38BDF8"/>
                </a:solidFill>
                <a:latin typeface="Segoe UI Semibold"/>
              </a:rPr>
              <a:t>ESTIMATED IMPLEMENTATION COST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411480" y="850392"/>
            <a:ext cx="8321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F5F8FF"/>
                </a:solidFill>
                <a:latin typeface="Segoe UI Semibold"/>
              </a:rPr>
              <a:t>Cents per call, not dollars</a:t>
            </a:r>
          </a:p>
        </p:txBody>
      </p:sp>
      <p:sp>
        <p:nvSpPr>
          <p:cNvPr id="130" name="Rounded Rectangle 129"/>
          <p:cNvSpPr/>
          <p:nvPr/>
        </p:nvSpPr>
        <p:spPr>
          <a:xfrm>
            <a:off x="411480" y="1371600"/>
            <a:ext cx="2697480" cy="2331720"/>
          </a:xfrm>
          <a:prstGeom prst="roundRect">
            <a:avLst>
              <a:gd name="adj" fmla="val 5490"/>
            </a:avLst>
          </a:prstGeom>
          <a:solidFill>
            <a:srgbClr val="0B1428">
              <a:alpha val="78000"/>
            </a:srgbClr>
          </a:solidFill>
          <a:ln w="9525">
            <a:solidFill>
              <a:srgbClr val="1D3566">
                <a:alpha val="75000"/>
              </a:srgbClr>
            </a:solidFill>
          </a:ln>
          <a:effectLst>
            <a:glow rad="101600">
              <a:srgbClr val="38BDF8">
                <a:alpha val="18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640080" y="1371600"/>
            <a:ext cx="640080" cy="4572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640080" y="1600200"/>
            <a:ext cx="22402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5000" b="1" i="0">
                <a:solidFill>
                  <a:srgbClr val="38BDF8"/>
                </a:solidFill>
                <a:latin typeface="Segoe UI Semibold"/>
              </a:rPr>
              <a:t>$0.01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640080" y="2487168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F5F8FF"/>
                </a:solidFill>
                <a:latin typeface="Segoe UI Semibold"/>
              </a:rPr>
              <a:t>per two-minute voice call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640080" y="2816352"/>
            <a:ext cx="22402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9DB0D4"/>
                </a:solidFill>
                <a:latin typeface="Segoe UI"/>
              </a:rPr>
              <a:t>Measured $0.006 to $0.010 in model tokens, plus a few fractions-of-a-cent Flash requests.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3223260" y="1371600"/>
            <a:ext cx="2697480" cy="2331720"/>
          </a:xfrm>
          <a:prstGeom prst="roundRect">
            <a:avLst>
              <a:gd name="adj" fmla="val 5490"/>
            </a:avLst>
          </a:prstGeom>
          <a:solidFill>
            <a:srgbClr val="0B1428">
              <a:alpha val="78000"/>
            </a:srgbClr>
          </a:solidFill>
          <a:ln w="9525">
            <a:solidFill>
              <a:srgbClr val="1D3566">
                <a:alpha val="75000"/>
              </a:srgbClr>
            </a:solidFill>
          </a:ln>
          <a:effectLst>
            <a:glow rad="101600">
              <a:srgbClr val="8B7CFF">
                <a:alpha val="18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3451860" y="1371600"/>
            <a:ext cx="640080" cy="45720"/>
          </a:xfrm>
          <a:prstGeom prst="rect">
            <a:avLst/>
          </a:prstGeom>
          <a:solidFill>
            <a:srgbClr val="8B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3451860" y="1600200"/>
            <a:ext cx="22402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5000" b="1" i="0">
                <a:solidFill>
                  <a:srgbClr val="8B7CFF"/>
                </a:solidFill>
                <a:latin typeface="Segoe UI Semibold"/>
              </a:rPr>
              <a:t>$100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3451860" y="2487168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F5F8FF"/>
                </a:solidFill>
                <a:latin typeface="Segoe UI Semibold"/>
              </a:rPr>
              <a:t>per 10,000 calls a month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3451860" y="2816352"/>
            <a:ext cx="22402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9DB0D4"/>
                </a:solidFill>
                <a:latin typeface="Segoe UI"/>
              </a:rPr>
              <a:t>Model cost at two minutes each. Cloud Run scales to zero when idle.</a:t>
            </a:r>
          </a:p>
        </p:txBody>
      </p:sp>
      <p:sp>
        <p:nvSpPr>
          <p:cNvPr id="140" name="Rounded Rectangle 139"/>
          <p:cNvSpPr/>
          <p:nvPr/>
        </p:nvSpPr>
        <p:spPr>
          <a:xfrm>
            <a:off x="6035040" y="1371600"/>
            <a:ext cx="2697480" cy="2331720"/>
          </a:xfrm>
          <a:prstGeom prst="roundRect">
            <a:avLst>
              <a:gd name="adj" fmla="val 5490"/>
            </a:avLst>
          </a:prstGeom>
          <a:solidFill>
            <a:srgbClr val="0B1428">
              <a:alpha val="78000"/>
            </a:srgbClr>
          </a:solidFill>
          <a:ln w="9525">
            <a:solidFill>
              <a:srgbClr val="1D3566">
                <a:alpha val="75000"/>
              </a:srgbClr>
            </a:solidFill>
          </a:ln>
          <a:effectLst>
            <a:glow rad="101600">
              <a:srgbClr val="37E0A0">
                <a:alpha val="18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6263640" y="1371600"/>
            <a:ext cx="640080" cy="45720"/>
          </a:xfrm>
          <a:prstGeom prst="rect">
            <a:avLst/>
          </a:prstGeom>
          <a:solidFill>
            <a:srgbClr val="37E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6263640" y="1600200"/>
            <a:ext cx="22402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5000" b="1" i="0">
                <a:solidFill>
                  <a:srgbClr val="37E0A0"/>
                </a:solidFill>
                <a:latin typeface="Segoe UI Semibold"/>
              </a:rPr>
              <a:t>$0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6263640" y="2487168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F5F8FF"/>
                </a:solidFill>
                <a:latin typeface="Segoe UI Semibold"/>
              </a:rPr>
              <a:t>to run the prototype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6263640" y="2816352"/>
            <a:ext cx="22402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9DB0D4"/>
                </a:solidFill>
                <a:latin typeface="Segoe UI"/>
              </a:rPr>
              <a:t>It runs on the free trial credit. Billing is never upgraded.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411480" y="3886200"/>
            <a:ext cx="2697480" cy="457200"/>
          </a:xfrm>
          <a:prstGeom prst="roundRect">
            <a:avLst>
              <a:gd name="adj" fmla="val 20000"/>
            </a:avLst>
          </a:prstGeom>
          <a:solidFill>
            <a:srgbClr val="0B1428">
              <a:alpha val="78000"/>
            </a:srgbClr>
          </a:solidFill>
          <a:ln w="9525">
            <a:solidFill>
              <a:srgbClr val="1D3566">
                <a:alpha val="7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Oval 145"/>
          <p:cNvSpPr/>
          <p:nvPr/>
        </p:nvSpPr>
        <p:spPr>
          <a:xfrm>
            <a:off x="594360" y="4069080"/>
            <a:ext cx="91440" cy="91440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795528" y="3886200"/>
            <a:ext cx="22402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F5F8FF"/>
                </a:solidFill>
                <a:latin typeface="Segoe UI"/>
              </a:rPr>
              <a:t>Recordings auto-delete after 14 days</a:t>
            </a:r>
          </a:p>
        </p:txBody>
      </p:sp>
      <p:sp>
        <p:nvSpPr>
          <p:cNvPr id="148" name="Rounded Rectangle 147"/>
          <p:cNvSpPr/>
          <p:nvPr/>
        </p:nvSpPr>
        <p:spPr>
          <a:xfrm>
            <a:off x="3223260" y="3886200"/>
            <a:ext cx="2697480" cy="457200"/>
          </a:xfrm>
          <a:prstGeom prst="roundRect">
            <a:avLst>
              <a:gd name="adj" fmla="val 20000"/>
            </a:avLst>
          </a:prstGeom>
          <a:solidFill>
            <a:srgbClr val="0B1428">
              <a:alpha val="78000"/>
            </a:srgbClr>
          </a:solidFill>
          <a:ln w="9525">
            <a:solidFill>
              <a:srgbClr val="1D3566">
                <a:alpha val="7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Oval 148"/>
          <p:cNvSpPr/>
          <p:nvPr/>
        </p:nvSpPr>
        <p:spPr>
          <a:xfrm>
            <a:off x="3406140" y="4069080"/>
            <a:ext cx="91440" cy="91440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3607308" y="3886200"/>
            <a:ext cx="22402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F5F8FF"/>
                </a:solidFill>
                <a:latin typeface="Segoe UI"/>
              </a:rPr>
              <a:t>Budget alerts and a one-click kill switch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6035040" y="3886200"/>
            <a:ext cx="2697480" cy="457200"/>
          </a:xfrm>
          <a:prstGeom prst="roundRect">
            <a:avLst>
              <a:gd name="adj" fmla="val 20000"/>
            </a:avLst>
          </a:prstGeom>
          <a:solidFill>
            <a:srgbClr val="0B1428">
              <a:alpha val="78000"/>
            </a:srgbClr>
          </a:solidFill>
          <a:ln w="9525">
            <a:solidFill>
              <a:srgbClr val="1D3566">
                <a:alpha val="7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Oval 151"/>
          <p:cNvSpPr/>
          <p:nvPr/>
        </p:nvSpPr>
        <p:spPr>
          <a:xfrm>
            <a:off x="6217920" y="4069080"/>
            <a:ext cx="91440" cy="91440"/>
          </a:xfrm>
          <a:prstGeom prst="ellipse">
            <a:avLst/>
          </a:prstGeom>
          <a:solidFill>
            <a:srgbClr val="37E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6419088" y="3886200"/>
            <a:ext cx="22402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F5F8FF"/>
                </a:solidFill>
                <a:latin typeface="Segoe UI"/>
              </a:rPr>
              <a:t>Per-IP limits and a 300 s call cap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411480" y="4526280"/>
            <a:ext cx="8321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F84AE"/>
                </a:solidFill>
                <a:latin typeface="Segoe UI"/>
              </a:rPr>
              <a:t>Estimates from the per-call token estimate the server reports, not invoices. Telephony charges are not included because the prototype runs in a browser.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4070F"/>
        </a:solidFill>
        <a:effectLst/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Picture 134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132" name="Google Shape;132;p23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23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3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TextBox 135"/>
          <p:cNvSpPr txBox="1"/>
          <p:nvPr/>
        </p:nvSpPr>
        <p:spPr>
          <a:xfrm>
            <a:off x="411480" y="676656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 spc="160">
                <a:solidFill>
                  <a:srgbClr val="38BDF8"/>
                </a:solidFill>
                <a:latin typeface="Segoe UI Semibold"/>
              </a:rPr>
              <a:t>SNAPSHOTS OF THE PROTOTYPE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411480" y="850392"/>
            <a:ext cx="8321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F5F8FF"/>
                </a:solidFill>
                <a:latin typeface="Segoe UI Semibold"/>
              </a:rPr>
              <a:t>The prototype, live today</a:t>
            </a:r>
          </a:p>
        </p:txBody>
      </p:sp>
      <p:pic>
        <p:nvPicPr>
          <p:cNvPr id="138" name="Picture 137" descr="image.jpg"/>
          <p:cNvPicPr>
            <a:picLocks noChangeAspect="1"/>
          </p:cNvPicPr>
          <p:nvPr/>
        </p:nvPicPr>
        <p:blipFill>
          <a:blip r:embed="rId18"/>
          <a:srcRect b="4000"/>
          <a:stretch>
            <a:fillRect/>
          </a:stretch>
        </p:blipFill>
        <p:spPr>
          <a:xfrm>
            <a:off x="411480" y="1463040"/>
            <a:ext cx="2697480" cy="1463040"/>
          </a:xfrm>
          <a:prstGeom prst="roundRect">
            <a:avLst>
              <a:gd name="adj" fmla="val 5000"/>
            </a:avLst>
          </a:prstGeom>
          <a:ln w="12700">
            <a:solidFill>
              <a:srgbClr val="1D3566"/>
            </a:solidFill>
          </a:ln>
        </p:spPr>
      </p:pic>
      <p:sp>
        <p:nvSpPr>
          <p:cNvPr id="139" name="TextBox 138"/>
          <p:cNvSpPr txBox="1"/>
          <p:nvPr/>
        </p:nvSpPr>
        <p:spPr>
          <a:xfrm>
            <a:off x="429768" y="2962656"/>
            <a:ext cx="2697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9DB0D4"/>
                </a:solidFill>
                <a:latin typeface="Segoe UI Semibold"/>
              </a:rPr>
              <a:t>Home</a:t>
            </a:r>
          </a:p>
        </p:txBody>
      </p:sp>
      <p:pic>
        <p:nvPicPr>
          <p:cNvPr id="140" name="Picture 139" descr="image.jpg"/>
          <p:cNvPicPr>
            <a:picLocks noChangeAspect="1"/>
          </p:cNvPicPr>
          <p:nvPr/>
        </p:nvPicPr>
        <p:blipFill>
          <a:blip r:embed="rId19"/>
          <a:srcRect b="4482"/>
          <a:stretch>
            <a:fillRect/>
          </a:stretch>
        </p:blipFill>
        <p:spPr>
          <a:xfrm>
            <a:off x="3223260" y="1463040"/>
            <a:ext cx="2697480" cy="1463040"/>
          </a:xfrm>
          <a:prstGeom prst="roundRect">
            <a:avLst>
              <a:gd name="adj" fmla="val 5000"/>
            </a:avLst>
          </a:prstGeom>
          <a:ln w="12700">
            <a:solidFill>
              <a:srgbClr val="1D3566"/>
            </a:solidFill>
          </a:ln>
        </p:spPr>
      </p:pic>
      <p:sp>
        <p:nvSpPr>
          <p:cNvPr id="141" name="TextBox 140"/>
          <p:cNvSpPr txBox="1"/>
          <p:nvPr/>
        </p:nvSpPr>
        <p:spPr>
          <a:xfrm>
            <a:off x="3241548" y="2962656"/>
            <a:ext cx="2697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9DB0D4"/>
                </a:solidFill>
                <a:latin typeface="Segoe UI Semibold"/>
              </a:rPr>
              <a:t>Live call</a:t>
            </a:r>
          </a:p>
        </p:txBody>
      </p:sp>
      <p:pic>
        <p:nvPicPr>
          <p:cNvPr id="142" name="Picture 141" descr="image.jpg"/>
          <p:cNvPicPr>
            <a:picLocks noChangeAspect="1"/>
          </p:cNvPicPr>
          <p:nvPr/>
        </p:nvPicPr>
        <p:blipFill>
          <a:blip r:embed="rId20"/>
          <a:srcRect b="4482"/>
          <a:stretch>
            <a:fillRect/>
          </a:stretch>
        </p:blipFill>
        <p:spPr>
          <a:xfrm>
            <a:off x="6035040" y="1463040"/>
            <a:ext cx="2697480" cy="1463040"/>
          </a:xfrm>
          <a:prstGeom prst="roundRect">
            <a:avLst>
              <a:gd name="adj" fmla="val 5000"/>
            </a:avLst>
          </a:prstGeom>
          <a:ln w="12700">
            <a:solidFill>
              <a:srgbClr val="1D3566"/>
            </a:solidFill>
          </a:ln>
        </p:spPr>
      </p:pic>
      <p:sp>
        <p:nvSpPr>
          <p:cNvPr id="143" name="TextBox 142"/>
          <p:cNvSpPr txBox="1"/>
          <p:nvPr/>
        </p:nvSpPr>
        <p:spPr>
          <a:xfrm>
            <a:off x="6053328" y="2962656"/>
            <a:ext cx="2697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9DB0D4"/>
                </a:solidFill>
                <a:latin typeface="Segoe UI Semibold"/>
              </a:rPr>
              <a:t>Live dashboard (English call)</a:t>
            </a:r>
          </a:p>
        </p:txBody>
      </p:sp>
      <p:pic>
        <p:nvPicPr>
          <p:cNvPr id="144" name="Picture 143" descr="image.jpg"/>
          <p:cNvPicPr>
            <a:picLocks noChangeAspect="1"/>
          </p:cNvPicPr>
          <p:nvPr/>
        </p:nvPicPr>
        <p:blipFill>
          <a:blip r:embed="rId21"/>
          <a:srcRect b="4482"/>
          <a:stretch>
            <a:fillRect/>
          </a:stretch>
        </p:blipFill>
        <p:spPr>
          <a:xfrm>
            <a:off x="411480" y="3236976"/>
            <a:ext cx="2697480" cy="1463040"/>
          </a:xfrm>
          <a:prstGeom prst="roundRect">
            <a:avLst>
              <a:gd name="adj" fmla="val 5000"/>
            </a:avLst>
          </a:prstGeom>
          <a:ln w="12700">
            <a:solidFill>
              <a:srgbClr val="1D3566"/>
            </a:solidFill>
          </a:ln>
        </p:spPr>
      </p:pic>
      <p:sp>
        <p:nvSpPr>
          <p:cNvPr id="145" name="TextBox 144"/>
          <p:cNvSpPr txBox="1"/>
          <p:nvPr/>
        </p:nvSpPr>
        <p:spPr>
          <a:xfrm>
            <a:off x="429768" y="4736592"/>
            <a:ext cx="2697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9DB0D4"/>
                </a:solidFill>
                <a:latin typeface="Segoe UI Semibold"/>
              </a:rPr>
              <a:t>Hindi call, English transcript</a:t>
            </a:r>
          </a:p>
        </p:txBody>
      </p:sp>
      <p:pic>
        <p:nvPicPr>
          <p:cNvPr id="146" name="Picture 145" descr="image.jpg"/>
          <p:cNvPicPr>
            <a:picLocks noChangeAspect="1"/>
          </p:cNvPicPr>
          <p:nvPr/>
        </p:nvPicPr>
        <p:blipFill>
          <a:blip r:embed="rId22"/>
          <a:srcRect b="4482"/>
          <a:stretch>
            <a:fillRect/>
          </a:stretch>
        </p:blipFill>
        <p:spPr>
          <a:xfrm>
            <a:off x="3223260" y="3236976"/>
            <a:ext cx="2697480" cy="1463040"/>
          </a:xfrm>
          <a:prstGeom prst="roundRect">
            <a:avLst>
              <a:gd name="adj" fmla="val 5000"/>
            </a:avLst>
          </a:prstGeom>
          <a:ln w="12700">
            <a:solidFill>
              <a:srgbClr val="1D3566"/>
            </a:solidFill>
          </a:ln>
        </p:spPr>
      </p:pic>
      <p:sp>
        <p:nvSpPr>
          <p:cNvPr id="147" name="TextBox 146"/>
          <p:cNvSpPr txBox="1"/>
          <p:nvPr/>
        </p:nvSpPr>
        <p:spPr>
          <a:xfrm>
            <a:off x="3241548" y="4736592"/>
            <a:ext cx="2697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9DB0D4"/>
                </a:solidFill>
                <a:latin typeface="Segoe UI Semibold"/>
              </a:rPr>
              <a:t>Call complete: 11 details, 7 confirmed</a:t>
            </a:r>
          </a:p>
        </p:txBody>
      </p:sp>
      <p:pic>
        <p:nvPicPr>
          <p:cNvPr id="148" name="Picture 147" descr="image.jpg"/>
          <p:cNvPicPr>
            <a:picLocks noChangeAspect="1"/>
          </p:cNvPicPr>
          <p:nvPr/>
        </p:nvPicPr>
        <p:blipFill>
          <a:blip r:embed="rId23"/>
          <a:srcRect b="3578"/>
          <a:stretch>
            <a:fillRect/>
          </a:stretch>
        </p:blipFill>
        <p:spPr>
          <a:xfrm>
            <a:off x="6035040" y="3236976"/>
            <a:ext cx="2697480" cy="1463040"/>
          </a:xfrm>
          <a:prstGeom prst="roundRect">
            <a:avLst>
              <a:gd name="adj" fmla="val 5000"/>
            </a:avLst>
          </a:prstGeom>
          <a:ln w="12700">
            <a:solidFill>
              <a:srgbClr val="1D3566"/>
            </a:solidFill>
          </a:ln>
        </p:spPr>
      </p:pic>
      <p:sp>
        <p:nvSpPr>
          <p:cNvPr id="149" name="TextBox 148"/>
          <p:cNvSpPr txBox="1"/>
          <p:nvPr/>
        </p:nvSpPr>
        <p:spPr>
          <a:xfrm>
            <a:off x="6053328" y="4736592"/>
            <a:ext cx="2697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9DB0D4"/>
                </a:solidFill>
                <a:latin typeface="Segoe UI Semibold"/>
              </a:rPr>
              <a:t>Evidence: confirmed vs heard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4070F"/>
        </a:solidFill>
        <a:effectLst/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Picture 142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140" name="Google Shape;140;p24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4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4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TextBox 143"/>
          <p:cNvSpPr txBox="1"/>
          <p:nvPr/>
        </p:nvSpPr>
        <p:spPr>
          <a:xfrm>
            <a:off x="411480" y="676656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 spc="160">
                <a:solidFill>
                  <a:srgbClr val="38BDF8"/>
                </a:solidFill>
                <a:latin typeface="Segoe UI Semibold"/>
              </a:rPr>
              <a:t>PROTOTYPE PERFORMANCE REPORT / BENCHMARKING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411480" y="850392"/>
            <a:ext cx="8321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F5F8FF"/>
                </a:solidFill>
                <a:latin typeface="Segoe UI Semibold"/>
              </a:rPr>
              <a:t>Measured, and honest about it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411480" y="1371600"/>
            <a:ext cx="4526280" cy="2606040"/>
          </a:xfrm>
          <a:prstGeom prst="roundRect">
            <a:avLst>
              <a:gd name="adj" fmla="val 4912"/>
            </a:avLst>
          </a:prstGeom>
          <a:solidFill>
            <a:srgbClr val="0B1428">
              <a:alpha val="78000"/>
            </a:srgbClr>
          </a:solidFill>
          <a:ln w="9525">
            <a:solidFill>
              <a:srgbClr val="1D3566">
                <a:alpha val="7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594360" y="1463040"/>
            <a:ext cx="4206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 i="0" spc="80">
                <a:solidFill>
                  <a:srgbClr val="38BDF8"/>
                </a:solidFill>
                <a:latin typeface="Segoe UI Semibold"/>
              </a:rPr>
              <a:t>SCAM DETECTION · ICFD-31k · 152 CALLS · 3 RUNS · SYNTHETIC</a:t>
            </a:r>
          </a:p>
        </p:txBody>
      </p:sp>
      <p:graphicFrame>
        <p:nvGraphicFramePr>
          <p:cNvPr id="148" name="Chart 147"/>
          <p:cNvGraphicFramePr>
            <a:graphicFrameLocks noGrp="1"/>
          </p:cNvGraphicFramePr>
          <p:nvPr/>
        </p:nvGraphicFramePr>
        <p:xfrm>
          <a:off x="502920" y="1664208"/>
          <a:ext cx="4343400" cy="2286000"/>
        </p:xfrm>
        <a:graphic>
          <a:graphicData uri="http://schemas.openxmlformats.org/drawingml/2006/chart">
            <c:chart r:id="rId9"/>
          </a:graphicData>
        </a:graphic>
      </p:graphicFrame>
      <p:sp>
        <p:nvSpPr>
          <p:cNvPr id="149" name="Rounded Rectangle 148"/>
          <p:cNvSpPr/>
          <p:nvPr/>
        </p:nvSpPr>
        <p:spPr>
          <a:xfrm>
            <a:off x="5074920" y="1371600"/>
            <a:ext cx="1764792" cy="795528"/>
          </a:xfrm>
          <a:prstGeom prst="roundRect">
            <a:avLst>
              <a:gd name="adj" fmla="val 11494"/>
            </a:avLst>
          </a:prstGeom>
          <a:solidFill>
            <a:srgbClr val="0B1428">
              <a:alpha val="78000"/>
            </a:srgbClr>
          </a:solidFill>
          <a:ln w="9525">
            <a:solidFill>
              <a:srgbClr val="1D3566">
                <a:alpha val="7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5074920" y="1517904"/>
            <a:ext cx="36576" cy="502920"/>
          </a:xfrm>
          <a:prstGeom prst="rect">
            <a:avLst/>
          </a:prstGeom>
          <a:solidFill>
            <a:srgbClr val="37E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5202936" y="1426464"/>
            <a:ext cx="1600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37E0A0"/>
                </a:solidFill>
                <a:latin typeface="Segoe UI Semibold"/>
              </a:rPr>
              <a:t>42 / 42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5202936" y="1737360"/>
            <a:ext cx="157276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750" b="0" i="0">
                <a:solidFill>
                  <a:srgbClr val="9DB0D4"/>
                </a:solidFill>
                <a:latin typeface="Segoe UI"/>
              </a:rPr>
              <a:t>persona red-team prompts passed (30 hostile + 12 ordinary)</a:t>
            </a:r>
          </a:p>
        </p:txBody>
      </p:sp>
      <p:sp>
        <p:nvSpPr>
          <p:cNvPr id="153" name="Rounded Rectangle 152"/>
          <p:cNvSpPr/>
          <p:nvPr/>
        </p:nvSpPr>
        <p:spPr>
          <a:xfrm>
            <a:off x="6922008" y="1371600"/>
            <a:ext cx="1764792" cy="795528"/>
          </a:xfrm>
          <a:prstGeom prst="roundRect">
            <a:avLst>
              <a:gd name="adj" fmla="val 11494"/>
            </a:avLst>
          </a:prstGeom>
          <a:solidFill>
            <a:srgbClr val="0B1428">
              <a:alpha val="78000"/>
            </a:srgbClr>
          </a:solidFill>
          <a:ln w="9525">
            <a:solidFill>
              <a:srgbClr val="1D3566">
                <a:alpha val="7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6922008" y="1517904"/>
            <a:ext cx="36576" cy="502920"/>
          </a:xfrm>
          <a:prstGeom prst="rect">
            <a:avLst/>
          </a:prstGeom>
          <a:solidFill>
            <a:srgbClr val="37E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7050024" y="1426464"/>
            <a:ext cx="1600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37E0A0"/>
                </a:solidFill>
                <a:latin typeface="Segoe UI Semibold"/>
              </a:rPr>
              <a:t>125 / 125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050024" y="1737360"/>
            <a:ext cx="157276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750" b="0" i="0">
                <a:solidFill>
                  <a:srgbClr val="9DB0D4"/>
                </a:solidFill>
                <a:latin typeface="Segoe UI"/>
              </a:rPr>
              <a:t>planted spoken-detail tests passed after speech-to-text</a:t>
            </a:r>
          </a:p>
        </p:txBody>
      </p:sp>
      <p:sp>
        <p:nvSpPr>
          <p:cNvPr id="157" name="Rounded Rectangle 156"/>
          <p:cNvSpPr/>
          <p:nvPr/>
        </p:nvSpPr>
        <p:spPr>
          <a:xfrm>
            <a:off x="5074920" y="2258568"/>
            <a:ext cx="1764792" cy="795528"/>
          </a:xfrm>
          <a:prstGeom prst="roundRect">
            <a:avLst>
              <a:gd name="adj" fmla="val 11494"/>
            </a:avLst>
          </a:prstGeom>
          <a:solidFill>
            <a:srgbClr val="0B1428">
              <a:alpha val="78000"/>
            </a:srgbClr>
          </a:solidFill>
          <a:ln w="9525">
            <a:solidFill>
              <a:srgbClr val="1D3566">
                <a:alpha val="7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5074920" y="2404872"/>
            <a:ext cx="36576" cy="50292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5202936" y="2313432"/>
            <a:ext cx="1600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38BDF8"/>
                </a:solidFill>
                <a:latin typeface="Segoe UI Semibold"/>
              </a:rPr>
              <a:t>37 / 40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5202936" y="2624327"/>
            <a:ext cx="157276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750" b="0" i="0">
                <a:solidFill>
                  <a:srgbClr val="9DB0D4"/>
                </a:solidFill>
                <a:latin typeface="Segoe UI"/>
              </a:rPr>
              <a:t>fraud calls flagged mid-call (keyword baseline: 31 / 40)</a:t>
            </a:r>
          </a:p>
        </p:txBody>
      </p:sp>
      <p:sp>
        <p:nvSpPr>
          <p:cNvPr id="161" name="Rounded Rectangle 160"/>
          <p:cNvSpPr/>
          <p:nvPr/>
        </p:nvSpPr>
        <p:spPr>
          <a:xfrm>
            <a:off x="6922008" y="2258568"/>
            <a:ext cx="1764792" cy="795528"/>
          </a:xfrm>
          <a:prstGeom prst="roundRect">
            <a:avLst>
              <a:gd name="adj" fmla="val 11494"/>
            </a:avLst>
          </a:prstGeom>
          <a:solidFill>
            <a:srgbClr val="0B1428">
              <a:alpha val="78000"/>
            </a:srgbClr>
          </a:solidFill>
          <a:ln w="9525">
            <a:solidFill>
              <a:srgbClr val="1D3566">
                <a:alpha val="7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6922008" y="2404872"/>
            <a:ext cx="36576" cy="502920"/>
          </a:xfrm>
          <a:prstGeom prst="rect">
            <a:avLst/>
          </a:prstGeom>
          <a:solidFill>
            <a:srgbClr val="8B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7050024" y="2313432"/>
            <a:ext cx="1600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8B7CFF"/>
                </a:solidFill>
                <a:latin typeface="Segoe UI Semibold"/>
              </a:rPr>
              <a:t>5.5 s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7050024" y="2624327"/>
            <a:ext cx="157276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750" b="0" i="0">
                <a:solidFill>
                  <a:srgbClr val="9DB0D4"/>
                </a:solidFill>
                <a:latin typeface="Segoe UI"/>
              </a:rPr>
              <a:t>voice-to-voice reply, median (p90 6.2 s)</a:t>
            </a:r>
          </a:p>
        </p:txBody>
      </p:sp>
      <p:sp>
        <p:nvSpPr>
          <p:cNvPr id="165" name="Rounded Rectangle 164"/>
          <p:cNvSpPr/>
          <p:nvPr/>
        </p:nvSpPr>
        <p:spPr>
          <a:xfrm>
            <a:off x="5074920" y="3145536"/>
            <a:ext cx="1764792" cy="795528"/>
          </a:xfrm>
          <a:prstGeom prst="roundRect">
            <a:avLst>
              <a:gd name="adj" fmla="val 11494"/>
            </a:avLst>
          </a:prstGeom>
          <a:solidFill>
            <a:srgbClr val="0B1428">
              <a:alpha val="78000"/>
            </a:srgbClr>
          </a:solidFill>
          <a:ln w="9525">
            <a:solidFill>
              <a:srgbClr val="1D3566">
                <a:alpha val="7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5074920" y="3291840"/>
            <a:ext cx="36576" cy="502920"/>
          </a:xfrm>
          <a:prstGeom prst="rect">
            <a:avLst/>
          </a:prstGeom>
          <a:solidFill>
            <a:srgbClr val="37E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5202936" y="3200400"/>
            <a:ext cx="1600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37E0A0"/>
                </a:solidFill>
                <a:latin typeface="Segoe UI Semibold"/>
              </a:rPr>
              <a:t>114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5202936" y="3511296"/>
            <a:ext cx="157276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750" b="0" i="0">
                <a:solidFill>
                  <a:srgbClr val="9DB0D4"/>
                </a:solidFill>
                <a:latin typeface="Segoe UI"/>
              </a:rPr>
              <a:t>automated tests pass</a:t>
            </a:r>
          </a:p>
        </p:txBody>
      </p:sp>
      <p:sp>
        <p:nvSpPr>
          <p:cNvPr id="169" name="Rounded Rectangle 168"/>
          <p:cNvSpPr/>
          <p:nvPr/>
        </p:nvSpPr>
        <p:spPr>
          <a:xfrm>
            <a:off x="6922008" y="3145536"/>
            <a:ext cx="1764792" cy="795528"/>
          </a:xfrm>
          <a:prstGeom prst="roundRect">
            <a:avLst>
              <a:gd name="adj" fmla="val 11494"/>
            </a:avLst>
          </a:prstGeom>
          <a:solidFill>
            <a:srgbClr val="0B1428">
              <a:alpha val="78000"/>
            </a:srgbClr>
          </a:solidFill>
          <a:ln w="9525">
            <a:solidFill>
              <a:srgbClr val="1D3566">
                <a:alpha val="7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6922008" y="3291840"/>
            <a:ext cx="36576" cy="50292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7050024" y="3200400"/>
            <a:ext cx="1600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BBF24"/>
                </a:solidFill>
                <a:latin typeface="Segoe UI Semibold"/>
              </a:rPr>
              <a:t>58% → 0%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050024" y="3511296"/>
            <a:ext cx="157276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750" b="0" i="0">
                <a:solidFill>
                  <a:srgbClr val="9DB0D4"/>
                </a:solidFill>
                <a:latin typeface="Segoe UI"/>
              </a:rPr>
              <a:t>decoy replies opening with a filler word</a:t>
            </a:r>
          </a:p>
        </p:txBody>
      </p:sp>
      <p:sp>
        <p:nvSpPr>
          <p:cNvPr id="173" name="Rounded Rectangle 172"/>
          <p:cNvSpPr/>
          <p:nvPr/>
        </p:nvSpPr>
        <p:spPr>
          <a:xfrm>
            <a:off x="411480" y="4087368"/>
            <a:ext cx="8321040" cy="658368"/>
          </a:xfrm>
          <a:prstGeom prst="roundRect">
            <a:avLst>
              <a:gd name="adj" fmla="val 13888"/>
            </a:avLst>
          </a:prstGeom>
          <a:solidFill>
            <a:srgbClr val="0B1428">
              <a:alpha val="78000"/>
            </a:srgbClr>
          </a:solidFill>
          <a:ln w="9525">
            <a:solidFill>
              <a:srgbClr val="1D3566">
                <a:alpha val="7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566928" y="4114800"/>
            <a:ext cx="3108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1" i="0" spc="60">
                <a:solidFill>
                  <a:srgbClr val="38BDF8"/>
                </a:solidFill>
                <a:latin typeface="Segoe UI Semibold"/>
              </a:rPr>
              <a:t>MEDIAN SECONDS INTO A FRAUD CALL BEFORE IT IS FLAGGED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566928" y="4315968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9DB0D4"/>
                </a:solidFill>
                <a:latin typeface="Segoe UI"/>
              </a:rPr>
              <a:t>Gemini Flash</a:t>
            </a:r>
          </a:p>
        </p:txBody>
      </p:sp>
      <p:sp>
        <p:nvSpPr>
          <p:cNvPr id="176" name="Rounded Rectangle 175"/>
          <p:cNvSpPr/>
          <p:nvPr/>
        </p:nvSpPr>
        <p:spPr>
          <a:xfrm>
            <a:off x="1554480" y="4407408"/>
            <a:ext cx="433142" cy="182880"/>
          </a:xfrm>
          <a:prstGeom prst="roundRect">
            <a:avLst>
              <a:gd name="adj" fmla="val 30000"/>
            </a:avLst>
          </a:prstGeom>
          <a:solidFill>
            <a:srgbClr val="38BDF8"/>
          </a:solidFill>
          <a:ln>
            <a:noFill/>
          </a:ln>
          <a:effectLst>
            <a:glow rad="50800">
              <a:srgbClr val="38BDF8">
                <a:alpha val="4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TextBox 176"/>
          <p:cNvSpPr txBox="1"/>
          <p:nvPr/>
        </p:nvSpPr>
        <p:spPr>
          <a:xfrm>
            <a:off x="2024198" y="4315968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F5F8FF"/>
                </a:solidFill>
                <a:latin typeface="Segoe UI Semibold"/>
              </a:rPr>
              <a:t>17.3 s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3310128" y="4315968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9DB0D4"/>
                </a:solidFill>
                <a:latin typeface="Segoe UI"/>
              </a:rPr>
              <a:t>Keyword baseline</a:t>
            </a:r>
          </a:p>
        </p:txBody>
      </p:sp>
      <p:sp>
        <p:nvSpPr>
          <p:cNvPr id="179" name="Rounded Rectangle 178"/>
          <p:cNvSpPr/>
          <p:nvPr/>
        </p:nvSpPr>
        <p:spPr>
          <a:xfrm>
            <a:off x="4297680" y="4407408"/>
            <a:ext cx="1008996" cy="182880"/>
          </a:xfrm>
          <a:prstGeom prst="roundRect">
            <a:avLst>
              <a:gd name="adj" fmla="val 30000"/>
            </a:avLst>
          </a:prstGeom>
          <a:solidFill>
            <a:srgbClr val="6F84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5343252" y="4315968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F5F8FF"/>
                </a:solidFill>
                <a:latin typeface="Segoe UI Semibold"/>
              </a:rPr>
              <a:t>40.3 s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6053328" y="4315968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9DB0D4"/>
                </a:solidFill>
                <a:latin typeface="Segoe UI"/>
              </a:rPr>
              <a:t>Dataset's own label</a:t>
            </a:r>
          </a:p>
        </p:txBody>
      </p:sp>
      <p:sp>
        <p:nvSpPr>
          <p:cNvPr id="182" name="Rounded Rectangle 181"/>
          <p:cNvSpPr/>
          <p:nvPr/>
        </p:nvSpPr>
        <p:spPr>
          <a:xfrm>
            <a:off x="7040880" y="4407408"/>
            <a:ext cx="1051560" cy="182880"/>
          </a:xfrm>
          <a:prstGeom prst="roundRect">
            <a:avLst>
              <a:gd name="adj" fmla="val 30000"/>
            </a:avLst>
          </a:prstGeom>
          <a:solidFill>
            <a:srgbClr val="1D35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TextBox 182"/>
          <p:cNvSpPr txBox="1"/>
          <p:nvPr/>
        </p:nvSpPr>
        <p:spPr>
          <a:xfrm>
            <a:off x="8129016" y="4315968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F5F8FF"/>
                </a:solidFill>
                <a:latin typeface="Segoe UI Semibold"/>
              </a:rPr>
              <a:t>42.0 s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411480" y="4791456"/>
            <a:ext cx="8321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0" i="0">
                <a:solidFill>
                  <a:srgbClr val="6F84AE"/>
                </a:solidFill>
                <a:latin typeface="Segoe UI"/>
              </a:rPr>
              <a:t>ICFD-31k is synthetic and has only 12 legitimate calls, so specificity is uncertain. The red-team is a single run judged by a second Gemini call.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4070F"/>
        </a:solidFill>
        <a:effectLst/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Picture 150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148" name="Google Shape;148;p25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5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5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TextBox 151"/>
          <p:cNvSpPr txBox="1"/>
          <p:nvPr/>
        </p:nvSpPr>
        <p:spPr>
          <a:xfrm>
            <a:off x="411480" y="676656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 spc="160">
                <a:solidFill>
                  <a:srgbClr val="38BDF8"/>
                </a:solidFill>
                <a:latin typeface="Segoe UI Semibold"/>
              </a:rPr>
              <a:t>ADDITIONAL DETAILS / FUTURE DEVELOPMENT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411480" y="850392"/>
            <a:ext cx="8321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F5F8FF"/>
                </a:solidFill>
                <a:latin typeface="Segoe UI Semibold"/>
              </a:rPr>
              <a:t>Limits we state plainly, a roadmap we believe in</a:t>
            </a:r>
          </a:p>
        </p:txBody>
      </p:sp>
      <p:sp>
        <p:nvSpPr>
          <p:cNvPr id="154" name="Rounded Rectangle 153"/>
          <p:cNvSpPr/>
          <p:nvPr/>
        </p:nvSpPr>
        <p:spPr>
          <a:xfrm>
            <a:off x="411480" y="1371600"/>
            <a:ext cx="3611880" cy="3383280"/>
          </a:xfrm>
          <a:prstGeom prst="roundRect">
            <a:avLst>
              <a:gd name="adj" fmla="val 3783"/>
            </a:avLst>
          </a:prstGeom>
          <a:solidFill>
            <a:srgbClr val="0B1428">
              <a:alpha val="78000"/>
            </a:srgbClr>
          </a:solidFill>
          <a:ln w="9525">
            <a:solidFill>
              <a:srgbClr val="1D3566">
                <a:alpha val="75000"/>
              </a:srgbClr>
            </a:solidFill>
          </a:ln>
          <a:effectLst>
            <a:glow rad="76200">
              <a:srgbClr val="FBBF24">
                <a:alpha val="1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612648" y="1508760"/>
            <a:ext cx="3200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 spc="150">
                <a:solidFill>
                  <a:srgbClr val="FBBF24"/>
                </a:solidFill>
                <a:latin typeface="Segoe UI Semibold"/>
              </a:rPr>
              <a:t>TODAY'S LIMITS</a:t>
            </a:r>
          </a:p>
        </p:txBody>
      </p:sp>
      <p:sp>
        <p:nvSpPr>
          <p:cNvPr id="156" name="Oval 155"/>
          <p:cNvSpPr/>
          <p:nvPr/>
        </p:nvSpPr>
        <p:spPr>
          <a:xfrm>
            <a:off x="612648" y="1892807"/>
            <a:ext cx="82296" cy="82296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795528" y="1828800"/>
            <a:ext cx="3063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C9D6F0"/>
                </a:solidFill>
                <a:latin typeface="Segoe UI"/>
              </a:rPr>
              <a:t>A browser stands in for a phone line: no telco diversion yet</a:t>
            </a:r>
          </a:p>
        </p:txBody>
      </p:sp>
      <p:sp>
        <p:nvSpPr>
          <p:cNvPr id="158" name="Oval 157"/>
          <p:cNvSpPr/>
          <p:nvPr/>
        </p:nvSpPr>
        <p:spPr>
          <a:xfrm>
            <a:off x="612648" y="2459736"/>
            <a:ext cx="82296" cy="82296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795528" y="2395728"/>
            <a:ext cx="3063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C9D6F0"/>
                </a:solidFill>
                <a:latin typeface="Segoe UI"/>
              </a:rPr>
              <a:t>English, Hindi and Hinglish only</a:t>
            </a:r>
          </a:p>
        </p:txBody>
      </p:sp>
      <p:sp>
        <p:nvSpPr>
          <p:cNvPr id="160" name="Oval 159"/>
          <p:cNvSpPr/>
          <p:nvPr/>
        </p:nvSpPr>
        <p:spPr>
          <a:xfrm>
            <a:off x="612648" y="3026664"/>
            <a:ext cx="82296" cy="82296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795528" y="2962656"/>
            <a:ext cx="3063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C9D6F0"/>
                </a:solidFill>
                <a:latin typeface="Segoe UI"/>
              </a:rPr>
              <a:t>Replies take a few seconds (median 5.5 s)</a:t>
            </a:r>
          </a:p>
        </p:txBody>
      </p:sp>
      <p:sp>
        <p:nvSpPr>
          <p:cNvPr id="162" name="Oval 161"/>
          <p:cNvSpPr/>
          <p:nvPr/>
        </p:nvSpPr>
        <p:spPr>
          <a:xfrm>
            <a:off x="612648" y="3593592"/>
            <a:ext cx="82296" cy="82296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795528" y="3529584"/>
            <a:ext cx="3063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C9D6F0"/>
                </a:solidFill>
                <a:latin typeface="Segoe UI"/>
              </a:rPr>
              <a:t>Speech can be mis-heard, so every detail is a lead, not proof</a:t>
            </a:r>
          </a:p>
        </p:txBody>
      </p:sp>
      <p:sp>
        <p:nvSpPr>
          <p:cNvPr id="164" name="Oval 163"/>
          <p:cNvSpPr/>
          <p:nvPr/>
        </p:nvSpPr>
        <p:spPr>
          <a:xfrm>
            <a:off x="612648" y="4160520"/>
            <a:ext cx="82296" cy="82296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795528" y="4096512"/>
            <a:ext cx="3063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C9D6F0"/>
                </a:solidFill>
                <a:latin typeface="Segoe UI"/>
              </a:rPr>
              <a:t>Detection is scored on a synthetic benchmark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4343400" y="1417320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 spc="160">
                <a:solidFill>
                  <a:srgbClr val="38BDF8"/>
                </a:solidFill>
                <a:latin typeface="Segoe UI Semibold"/>
              </a:rPr>
              <a:t>ROADMAP</a:t>
            </a:r>
          </a:p>
        </p:txBody>
      </p:sp>
      <p:cxnSp>
        <p:nvCxnSpPr>
          <p:cNvPr id="167" name="Connector 166"/>
          <p:cNvCxnSpPr/>
          <p:nvPr/>
        </p:nvCxnSpPr>
        <p:spPr>
          <a:xfrm>
            <a:off x="4572000" y="1874519"/>
            <a:ext cx="0" cy="2560321"/>
          </a:xfrm>
          <a:prstGeom prst="line">
            <a:avLst/>
          </a:prstGeom>
          <a:ln w="25400">
            <a:solidFill>
              <a:srgbClr val="1D35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8" name="Oval 167"/>
          <p:cNvSpPr/>
          <p:nvPr/>
        </p:nvSpPr>
        <p:spPr>
          <a:xfrm>
            <a:off x="4434840" y="1719072"/>
            <a:ext cx="274320" cy="274320"/>
          </a:xfrm>
          <a:prstGeom prst="ellipse">
            <a:avLst/>
          </a:prstGeom>
          <a:solidFill>
            <a:srgbClr val="38BDF8"/>
          </a:solidFill>
          <a:ln>
            <a:noFill/>
          </a:ln>
          <a:effectLst>
            <a:glow rad="76200">
              <a:srgbClr val="38BDF8">
                <a:alpha val="3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4434840" y="171907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 i="0">
                <a:solidFill>
                  <a:srgbClr val="F5F8FF"/>
                </a:solidFill>
                <a:latin typeface="Segoe UI Semibold"/>
              </a:rPr>
              <a:t>1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4846320" y="1700784"/>
            <a:ext cx="3840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F5F8FF"/>
                </a:solidFill>
                <a:latin typeface="Segoe UI Semibold"/>
              </a:rPr>
              <a:t>Telco SIP diversion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846320" y="1938528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9DB0D4"/>
                </a:solidFill>
                <a:latin typeface="Segoe UI"/>
              </a:rPr>
              <a:t>Real scam calls reach the decoy</a:t>
            </a:r>
          </a:p>
        </p:txBody>
      </p:sp>
      <p:sp>
        <p:nvSpPr>
          <p:cNvPr id="172" name="Oval 171"/>
          <p:cNvSpPr/>
          <p:nvPr/>
        </p:nvSpPr>
        <p:spPr>
          <a:xfrm>
            <a:off x="4434840" y="2359152"/>
            <a:ext cx="274320" cy="274320"/>
          </a:xfrm>
          <a:prstGeom prst="ellipse">
            <a:avLst/>
          </a:prstGeom>
          <a:solidFill>
            <a:srgbClr val="8B7CFF"/>
          </a:solidFill>
          <a:ln>
            <a:noFill/>
          </a:ln>
          <a:effectLst>
            <a:glow rad="76200">
              <a:srgbClr val="8B7CFF">
                <a:alpha val="3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4434840" y="235915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 i="0">
                <a:solidFill>
                  <a:srgbClr val="F5F8FF"/>
                </a:solidFill>
                <a:latin typeface="Segoe UI Semibold"/>
              </a:rPr>
              <a:t>2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4846320" y="2340864"/>
            <a:ext cx="3840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F5F8FF"/>
                </a:solidFill>
                <a:latin typeface="Segoe UI Semibold"/>
              </a:rPr>
              <a:t>Bank and NCRP feeds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4846320" y="2578608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9DB0D4"/>
                </a:solidFill>
                <a:latin typeface="Segoe UI"/>
              </a:rPr>
              <a:t>Evidence packs reach the people who freeze mule accounts</a:t>
            </a:r>
          </a:p>
        </p:txBody>
      </p:sp>
      <p:sp>
        <p:nvSpPr>
          <p:cNvPr id="176" name="Oval 175"/>
          <p:cNvSpPr/>
          <p:nvPr/>
        </p:nvSpPr>
        <p:spPr>
          <a:xfrm>
            <a:off x="4434840" y="2999232"/>
            <a:ext cx="274320" cy="274320"/>
          </a:xfrm>
          <a:prstGeom prst="ellipse">
            <a:avLst/>
          </a:prstGeom>
          <a:solidFill>
            <a:srgbClr val="38BDF8"/>
          </a:solidFill>
          <a:ln>
            <a:noFill/>
          </a:ln>
          <a:effectLst>
            <a:glow rad="76200">
              <a:srgbClr val="38BDF8">
                <a:alpha val="3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TextBox 176"/>
          <p:cNvSpPr txBox="1"/>
          <p:nvPr/>
        </p:nvSpPr>
        <p:spPr>
          <a:xfrm>
            <a:off x="4434840" y="299923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 i="0">
                <a:solidFill>
                  <a:srgbClr val="F5F8FF"/>
                </a:solidFill>
                <a:latin typeface="Segoe UI Semibold"/>
              </a:rPr>
              <a:t>3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4846320" y="2980944"/>
            <a:ext cx="3840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F5F8FF"/>
                </a:solidFill>
                <a:latin typeface="Segoe UI Semibold"/>
              </a:rPr>
              <a:t>More Indian languages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4846320" y="3218687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9DB0D4"/>
                </a:solidFill>
                <a:latin typeface="Segoe UI"/>
              </a:rPr>
              <a:t>And lower voice latency</a:t>
            </a:r>
          </a:p>
        </p:txBody>
      </p:sp>
      <p:sp>
        <p:nvSpPr>
          <p:cNvPr id="180" name="Oval 179"/>
          <p:cNvSpPr/>
          <p:nvPr/>
        </p:nvSpPr>
        <p:spPr>
          <a:xfrm>
            <a:off x="4434840" y="3639311"/>
            <a:ext cx="274320" cy="274320"/>
          </a:xfrm>
          <a:prstGeom prst="ellipse">
            <a:avLst/>
          </a:prstGeom>
          <a:solidFill>
            <a:srgbClr val="8B7CFF"/>
          </a:solidFill>
          <a:ln>
            <a:noFill/>
          </a:ln>
          <a:effectLst>
            <a:glow rad="76200">
              <a:srgbClr val="8B7CFF">
                <a:alpha val="3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TextBox 180"/>
          <p:cNvSpPr txBox="1"/>
          <p:nvPr/>
        </p:nvSpPr>
        <p:spPr>
          <a:xfrm>
            <a:off x="4434840" y="3639311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 i="0">
                <a:solidFill>
                  <a:srgbClr val="F5F8FF"/>
                </a:solidFill>
                <a:latin typeface="Segoe UI Semibold"/>
              </a:rPr>
              <a:t>4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4846320" y="3621023"/>
            <a:ext cx="3840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F5F8FF"/>
                </a:solidFill>
                <a:latin typeface="Segoe UI Semibold"/>
              </a:rPr>
              <a:t>Human review queue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4846320" y="3858768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9DB0D4"/>
                </a:solidFill>
                <a:latin typeface="Segoe UI"/>
              </a:rPr>
              <a:t>Before any evidence leaves the system</a:t>
            </a:r>
          </a:p>
        </p:txBody>
      </p:sp>
      <p:sp>
        <p:nvSpPr>
          <p:cNvPr id="184" name="Oval 183"/>
          <p:cNvSpPr/>
          <p:nvPr/>
        </p:nvSpPr>
        <p:spPr>
          <a:xfrm>
            <a:off x="4434840" y="4279392"/>
            <a:ext cx="274320" cy="274320"/>
          </a:xfrm>
          <a:prstGeom prst="ellipse">
            <a:avLst/>
          </a:prstGeom>
          <a:solidFill>
            <a:srgbClr val="38BDF8"/>
          </a:solidFill>
          <a:ln>
            <a:noFill/>
          </a:ln>
          <a:effectLst>
            <a:glow rad="76200">
              <a:srgbClr val="38BDF8">
                <a:alpha val="3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TextBox 184"/>
          <p:cNvSpPr txBox="1"/>
          <p:nvPr/>
        </p:nvSpPr>
        <p:spPr>
          <a:xfrm>
            <a:off x="4434840" y="427939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 i="0">
                <a:solidFill>
                  <a:srgbClr val="F5F8FF"/>
                </a:solidFill>
                <a:latin typeface="Segoe UI Semibold"/>
              </a:rPr>
              <a:t>5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4846320" y="4261104"/>
            <a:ext cx="3840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F5F8FF"/>
                </a:solidFill>
                <a:latin typeface="Segoe UI Semibold"/>
              </a:rPr>
              <a:t>Vaccine drills on WhatsApp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4846320" y="4498848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9DB0D4"/>
                </a:solidFill>
                <a:latin typeface="Segoe UI"/>
              </a:rPr>
              <a:t>At scale, for families and senior citizens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4070F"/>
        </a:solidFill>
        <a:effectLst/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Picture 166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164" name="Google Shape;164;p27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27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7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TextBox 167"/>
          <p:cNvSpPr txBox="1"/>
          <p:nvPr/>
        </p:nvSpPr>
        <p:spPr>
          <a:xfrm>
            <a:off x="411480" y="676656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 spc="160">
                <a:solidFill>
                  <a:srgbClr val="38BDF8"/>
                </a:solidFill>
                <a:latin typeface="Segoe UI Semibold"/>
              </a:rPr>
              <a:t>SAFETY, PRIVACY AND RESPONSIBLE USE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411480" y="850392"/>
            <a:ext cx="8321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F5F8FF"/>
                </a:solidFill>
                <a:latin typeface="Segoe UI Semibold"/>
              </a:rPr>
              <a:t>Safe by design, not by promise</a:t>
            </a:r>
          </a:p>
        </p:txBody>
      </p:sp>
      <p:sp>
        <p:nvSpPr>
          <p:cNvPr id="170" name="Rounded Rectangle 169"/>
          <p:cNvSpPr/>
          <p:nvPr/>
        </p:nvSpPr>
        <p:spPr>
          <a:xfrm>
            <a:off x="411480" y="1371600"/>
            <a:ext cx="2697480" cy="1554480"/>
          </a:xfrm>
          <a:prstGeom prst="roundRect">
            <a:avLst>
              <a:gd name="adj" fmla="val 8235"/>
            </a:avLst>
          </a:prstGeom>
          <a:solidFill>
            <a:srgbClr val="0B1428">
              <a:alpha val="78000"/>
            </a:srgbClr>
          </a:solidFill>
          <a:ln w="9525">
            <a:solidFill>
              <a:srgbClr val="1D3566">
                <a:alpha val="75000"/>
              </a:srgbClr>
            </a:solidFill>
          </a:ln>
          <a:effectLst>
            <a:glow rad="63500">
              <a:srgbClr val="37E0A0">
                <a:alpha val="1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Oval 170"/>
          <p:cNvSpPr/>
          <p:nvPr/>
        </p:nvSpPr>
        <p:spPr>
          <a:xfrm>
            <a:off x="612648" y="1572768"/>
            <a:ext cx="384048" cy="384048"/>
          </a:xfrm>
          <a:prstGeom prst="ellipse">
            <a:avLst/>
          </a:prstGeom>
          <a:solidFill>
            <a:srgbClr val="37E0A0"/>
          </a:solidFill>
          <a:ln>
            <a:noFill/>
          </a:ln>
          <a:effectLst>
            <a:glow rad="88900">
              <a:srgbClr val="37E0A0">
                <a:alpha val="3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612648" y="1572768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04070F"/>
                </a:solidFill>
                <a:latin typeface="Segoe UI Semibold"/>
              </a:rPr>
              <a:t>✓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612648" y="2103120"/>
            <a:ext cx="2331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F5F8FF"/>
                </a:solidFill>
                <a:latin typeface="Segoe UI Semibold"/>
              </a:rPr>
              <a:t>Never real data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612648" y="2377440"/>
            <a:ext cx="2331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9DB0D4"/>
                </a:solidFill>
                <a:latin typeface="Segoe UI"/>
              </a:rPr>
              <a:t>No OTP, PIN, CVV, card, Aadhaar or PAN. Ever.</a:t>
            </a:r>
          </a:p>
        </p:txBody>
      </p:sp>
      <p:sp>
        <p:nvSpPr>
          <p:cNvPr id="175" name="Rounded Rectangle 174"/>
          <p:cNvSpPr/>
          <p:nvPr/>
        </p:nvSpPr>
        <p:spPr>
          <a:xfrm>
            <a:off x="3223260" y="1371600"/>
            <a:ext cx="2697480" cy="1554480"/>
          </a:xfrm>
          <a:prstGeom prst="roundRect">
            <a:avLst>
              <a:gd name="adj" fmla="val 8235"/>
            </a:avLst>
          </a:prstGeom>
          <a:solidFill>
            <a:srgbClr val="0B1428">
              <a:alpha val="78000"/>
            </a:srgbClr>
          </a:solidFill>
          <a:ln w="9525">
            <a:solidFill>
              <a:srgbClr val="1D3566">
                <a:alpha val="75000"/>
              </a:srgbClr>
            </a:solidFill>
          </a:ln>
          <a:effectLst>
            <a:glow rad="63500">
              <a:srgbClr val="38BDF8">
                <a:alpha val="1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Oval 175"/>
          <p:cNvSpPr/>
          <p:nvPr/>
        </p:nvSpPr>
        <p:spPr>
          <a:xfrm>
            <a:off x="3424428" y="1572768"/>
            <a:ext cx="384048" cy="384048"/>
          </a:xfrm>
          <a:prstGeom prst="ellipse">
            <a:avLst/>
          </a:prstGeom>
          <a:solidFill>
            <a:srgbClr val="38BDF8"/>
          </a:solidFill>
          <a:ln>
            <a:noFill/>
          </a:ln>
          <a:effectLst>
            <a:glow rad="88900">
              <a:srgbClr val="38BDF8">
                <a:alpha val="3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TextBox 176"/>
          <p:cNvSpPr txBox="1"/>
          <p:nvPr/>
        </p:nvSpPr>
        <p:spPr>
          <a:xfrm>
            <a:off x="3424428" y="1572768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04070F"/>
                </a:solidFill>
                <a:latin typeface="Segoe UI Semibold"/>
              </a:rPr>
              <a:t>✓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3424428" y="2103120"/>
            <a:ext cx="2331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F5F8FF"/>
                </a:solidFill>
                <a:latin typeface="Segoe UI Semibold"/>
              </a:rPr>
              <a:t>Never reveals it is an AI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3424428" y="2377440"/>
            <a:ext cx="2331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9DB0D4"/>
                </a:solidFill>
                <a:latin typeface="Segoe UI"/>
              </a:rPr>
              <a:t>Passed 42 of 42 red-team prompts. Never insults or threatens.</a:t>
            </a:r>
          </a:p>
        </p:txBody>
      </p:sp>
      <p:sp>
        <p:nvSpPr>
          <p:cNvPr id="180" name="Rounded Rectangle 179"/>
          <p:cNvSpPr/>
          <p:nvPr/>
        </p:nvSpPr>
        <p:spPr>
          <a:xfrm>
            <a:off x="6035040" y="1371600"/>
            <a:ext cx="2697480" cy="1554480"/>
          </a:xfrm>
          <a:prstGeom prst="roundRect">
            <a:avLst>
              <a:gd name="adj" fmla="val 8235"/>
            </a:avLst>
          </a:prstGeom>
          <a:solidFill>
            <a:srgbClr val="0B1428">
              <a:alpha val="78000"/>
            </a:srgbClr>
          </a:solidFill>
          <a:ln w="9525">
            <a:solidFill>
              <a:srgbClr val="1D3566">
                <a:alpha val="75000"/>
              </a:srgbClr>
            </a:solidFill>
          </a:ln>
          <a:effectLst>
            <a:glow rad="63500">
              <a:srgbClr val="FBBF24">
                <a:alpha val="1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Oval 180"/>
          <p:cNvSpPr/>
          <p:nvPr/>
        </p:nvSpPr>
        <p:spPr>
          <a:xfrm>
            <a:off x="6236208" y="1572768"/>
            <a:ext cx="384048" cy="384048"/>
          </a:xfrm>
          <a:prstGeom prst="ellipse">
            <a:avLst/>
          </a:prstGeom>
          <a:solidFill>
            <a:srgbClr val="FBBF24"/>
          </a:solidFill>
          <a:ln>
            <a:noFill/>
          </a:ln>
          <a:effectLst>
            <a:glow rad="88900">
              <a:srgbClr val="FBBF24">
                <a:alpha val="3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TextBox 181"/>
          <p:cNvSpPr txBox="1"/>
          <p:nvPr/>
        </p:nvSpPr>
        <p:spPr>
          <a:xfrm>
            <a:off x="6236208" y="1572768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04070F"/>
                </a:solidFill>
                <a:latin typeface="Segoe UI Semibold"/>
              </a:rPr>
              <a:t>✓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6236208" y="2103120"/>
            <a:ext cx="2331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F5F8FF"/>
                </a:solidFill>
                <a:latin typeface="Segoe UI Semibold"/>
              </a:rPr>
              <a:t>A lead, not a verdict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6236208" y="2377440"/>
            <a:ext cx="2331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9DB0D4"/>
                </a:solidFill>
                <a:latin typeface="Segoe UI"/>
              </a:rPr>
              <a:t>Every pack says details came from an unverified caller.</a:t>
            </a:r>
          </a:p>
        </p:txBody>
      </p:sp>
      <p:sp>
        <p:nvSpPr>
          <p:cNvPr id="185" name="Rounded Rectangle 184"/>
          <p:cNvSpPr/>
          <p:nvPr/>
        </p:nvSpPr>
        <p:spPr>
          <a:xfrm>
            <a:off x="411480" y="3054096"/>
            <a:ext cx="2697480" cy="1554480"/>
          </a:xfrm>
          <a:prstGeom prst="roundRect">
            <a:avLst>
              <a:gd name="adj" fmla="val 8235"/>
            </a:avLst>
          </a:prstGeom>
          <a:solidFill>
            <a:srgbClr val="0B1428">
              <a:alpha val="78000"/>
            </a:srgbClr>
          </a:solidFill>
          <a:ln w="9525">
            <a:solidFill>
              <a:srgbClr val="1D3566">
                <a:alpha val="75000"/>
              </a:srgbClr>
            </a:solidFill>
          </a:ln>
          <a:effectLst>
            <a:glow rad="63500">
              <a:srgbClr val="8B7CFF">
                <a:alpha val="1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Oval 185"/>
          <p:cNvSpPr/>
          <p:nvPr/>
        </p:nvSpPr>
        <p:spPr>
          <a:xfrm>
            <a:off x="612648" y="3255264"/>
            <a:ext cx="384048" cy="384048"/>
          </a:xfrm>
          <a:prstGeom prst="ellipse">
            <a:avLst/>
          </a:prstGeom>
          <a:solidFill>
            <a:srgbClr val="8B7CFF"/>
          </a:solidFill>
          <a:ln>
            <a:noFill/>
          </a:ln>
          <a:effectLst>
            <a:glow rad="88900">
              <a:srgbClr val="8B7CFF">
                <a:alpha val="3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TextBox 186"/>
          <p:cNvSpPr txBox="1"/>
          <p:nvPr/>
        </p:nvSpPr>
        <p:spPr>
          <a:xfrm>
            <a:off x="612648" y="3255264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04070F"/>
                </a:solidFill>
                <a:latin typeface="Segoe UI Semibold"/>
              </a:rPr>
              <a:t>✓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612648" y="3785615"/>
            <a:ext cx="2331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F5F8FF"/>
                </a:solidFill>
                <a:latin typeface="Segoe UI Semibold"/>
              </a:rPr>
              <a:t>Consent-first drills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612648" y="4059935"/>
            <a:ext cx="2331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9DB0D4"/>
                </a:solidFill>
                <a:latin typeface="Segoe UI"/>
              </a:rPr>
              <a:t>A parent agrees first. The call stops at the first sign of risk.</a:t>
            </a:r>
          </a:p>
        </p:txBody>
      </p:sp>
      <p:sp>
        <p:nvSpPr>
          <p:cNvPr id="190" name="Rounded Rectangle 189"/>
          <p:cNvSpPr/>
          <p:nvPr/>
        </p:nvSpPr>
        <p:spPr>
          <a:xfrm>
            <a:off x="3223260" y="3054096"/>
            <a:ext cx="2697480" cy="1554480"/>
          </a:xfrm>
          <a:prstGeom prst="roundRect">
            <a:avLst>
              <a:gd name="adj" fmla="val 8235"/>
            </a:avLst>
          </a:prstGeom>
          <a:solidFill>
            <a:srgbClr val="0B1428">
              <a:alpha val="78000"/>
            </a:srgbClr>
          </a:solidFill>
          <a:ln w="9525">
            <a:solidFill>
              <a:srgbClr val="1D3566">
                <a:alpha val="75000"/>
              </a:srgbClr>
            </a:solidFill>
          </a:ln>
          <a:effectLst>
            <a:glow rad="63500">
              <a:srgbClr val="3B82F6">
                <a:alpha val="1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Oval 190"/>
          <p:cNvSpPr/>
          <p:nvPr/>
        </p:nvSpPr>
        <p:spPr>
          <a:xfrm>
            <a:off x="3424428" y="3255264"/>
            <a:ext cx="384048" cy="384048"/>
          </a:xfrm>
          <a:prstGeom prst="ellipse">
            <a:avLst/>
          </a:prstGeom>
          <a:solidFill>
            <a:srgbClr val="3B82F6"/>
          </a:solidFill>
          <a:ln>
            <a:noFill/>
          </a:ln>
          <a:effectLst>
            <a:glow rad="88900">
              <a:srgbClr val="3B82F6">
                <a:alpha val="3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TextBox 191"/>
          <p:cNvSpPr txBox="1"/>
          <p:nvPr/>
        </p:nvSpPr>
        <p:spPr>
          <a:xfrm>
            <a:off x="3424428" y="3255264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04070F"/>
                </a:solidFill>
                <a:latin typeface="Segoe UI Semibold"/>
              </a:rPr>
              <a:t>✓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3424428" y="3785615"/>
            <a:ext cx="2331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F5F8FF"/>
                </a:solidFill>
                <a:latin typeface="Segoe UI Semibold"/>
              </a:rPr>
              <a:t>Private by default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3424428" y="4059935"/>
            <a:ext cx="2331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9DB0D4"/>
                </a:solidFill>
                <a:latin typeface="Segoe UI"/>
              </a:rPr>
              <a:t>Deny-all Firestore, private recordings, deleted after 14 days.</a:t>
            </a:r>
          </a:p>
        </p:txBody>
      </p:sp>
      <p:sp>
        <p:nvSpPr>
          <p:cNvPr id="195" name="Rounded Rectangle 194"/>
          <p:cNvSpPr/>
          <p:nvPr/>
        </p:nvSpPr>
        <p:spPr>
          <a:xfrm>
            <a:off x="6035040" y="3054096"/>
            <a:ext cx="2697480" cy="1554480"/>
          </a:xfrm>
          <a:prstGeom prst="roundRect">
            <a:avLst>
              <a:gd name="adj" fmla="val 8235"/>
            </a:avLst>
          </a:prstGeom>
          <a:solidFill>
            <a:srgbClr val="0B1428">
              <a:alpha val="78000"/>
            </a:srgbClr>
          </a:solidFill>
          <a:ln w="9525">
            <a:solidFill>
              <a:srgbClr val="1D3566">
                <a:alpha val="75000"/>
              </a:srgbClr>
            </a:solidFill>
          </a:ln>
          <a:effectLst>
            <a:glow rad="63500">
              <a:srgbClr val="FB7185">
                <a:alpha val="1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Oval 195"/>
          <p:cNvSpPr/>
          <p:nvPr/>
        </p:nvSpPr>
        <p:spPr>
          <a:xfrm>
            <a:off x="6236208" y="3255264"/>
            <a:ext cx="384048" cy="384048"/>
          </a:xfrm>
          <a:prstGeom prst="ellipse">
            <a:avLst/>
          </a:prstGeom>
          <a:solidFill>
            <a:srgbClr val="FB7185"/>
          </a:solidFill>
          <a:ln>
            <a:noFill/>
          </a:ln>
          <a:effectLst>
            <a:glow rad="88900">
              <a:srgbClr val="FB7185">
                <a:alpha val="3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TextBox 196"/>
          <p:cNvSpPr txBox="1"/>
          <p:nvPr/>
        </p:nvSpPr>
        <p:spPr>
          <a:xfrm>
            <a:off x="6236208" y="3255264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04070F"/>
                </a:solidFill>
                <a:latin typeface="Segoe UI Semibold"/>
              </a:rPr>
              <a:t>✓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6236208" y="3785615"/>
            <a:ext cx="2331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F5F8FF"/>
                </a:solidFill>
                <a:latin typeface="Segoe UI Semibold"/>
              </a:rPr>
              <a:t>Affordable by design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6236208" y="4059935"/>
            <a:ext cx="2331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9DB0D4"/>
                </a:solidFill>
                <a:latin typeface="Segoe UI"/>
              </a:rPr>
              <a:t>Per-IP limits, call caps, a kill switch and budget alerts.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4070F"/>
        </a:solidFill>
        <a:effectLst/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Picture 158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156" name="Google Shape;156;p26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6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6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TextBox 159"/>
          <p:cNvSpPr txBox="1"/>
          <p:nvPr/>
        </p:nvSpPr>
        <p:spPr>
          <a:xfrm>
            <a:off x="411480" y="676656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 spc="160">
                <a:solidFill>
                  <a:srgbClr val="38BDF8"/>
                </a:solidFill>
                <a:latin typeface="Segoe UI Semibold"/>
              </a:rPr>
              <a:t>LINKS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11480" y="850392"/>
            <a:ext cx="8321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F5F8FF"/>
                </a:solidFill>
                <a:latin typeface="Segoe UI Semibold"/>
              </a:rPr>
              <a:t>Try it in thirty seconds</a:t>
            </a:r>
          </a:p>
        </p:txBody>
      </p:sp>
      <p:sp>
        <p:nvSpPr>
          <p:cNvPr id="162" name="Rounded Rectangle 161"/>
          <p:cNvSpPr/>
          <p:nvPr/>
        </p:nvSpPr>
        <p:spPr>
          <a:xfrm>
            <a:off x="411480" y="1371600"/>
            <a:ext cx="1965960" cy="2926080"/>
          </a:xfrm>
          <a:prstGeom prst="roundRect">
            <a:avLst>
              <a:gd name="adj" fmla="val 6511"/>
            </a:avLst>
          </a:prstGeom>
          <a:solidFill>
            <a:srgbClr val="0B1428">
              <a:alpha val="78000"/>
            </a:srgbClr>
          </a:solidFill>
          <a:ln w="9525">
            <a:solidFill>
              <a:srgbClr val="1D3566">
                <a:alpha val="75000"/>
              </a:srgbClr>
            </a:solidFill>
          </a:ln>
          <a:effectLst>
            <a:glow rad="88900">
              <a:srgbClr val="38BDF8">
                <a:alpha val="16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594360" y="1371600"/>
            <a:ext cx="548640" cy="4572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ounded Rectangle 163"/>
          <p:cNvSpPr/>
          <p:nvPr/>
        </p:nvSpPr>
        <p:spPr>
          <a:xfrm>
            <a:off x="685800" y="1572768"/>
            <a:ext cx="1417320" cy="1417320"/>
          </a:xfrm>
          <a:prstGeom prst="roundRect">
            <a:avLst>
              <a:gd name="adj" fmla="val 645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5" name="Picture 16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9808" y="1636776"/>
            <a:ext cx="1289304" cy="1289304"/>
          </a:xfrm>
          <a:prstGeom prst="rect">
            <a:avLst/>
          </a:prstGeom>
        </p:spPr>
      </p:pic>
      <p:sp>
        <p:nvSpPr>
          <p:cNvPr id="166" name="TextBox 165"/>
          <p:cNvSpPr txBox="1"/>
          <p:nvPr/>
        </p:nvSpPr>
        <p:spPr>
          <a:xfrm>
            <a:off x="594360" y="3127248"/>
            <a:ext cx="1600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5F8FF"/>
                </a:solidFill>
                <a:latin typeface="Segoe UI Semibold"/>
              </a:rPr>
              <a:t>Live product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594360" y="3419856"/>
            <a:ext cx="1600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9DB0D4"/>
                </a:solidFill>
                <a:latin typeface="Segoe UI"/>
              </a:rPr>
              <a:t>stallwart.web.app</a:t>
            </a:r>
          </a:p>
        </p:txBody>
      </p:sp>
      <p:sp>
        <p:nvSpPr>
          <p:cNvPr id="168" name="Rounded Rectangle 167"/>
          <p:cNvSpPr/>
          <p:nvPr/>
        </p:nvSpPr>
        <p:spPr>
          <a:xfrm>
            <a:off x="2532888" y="1371600"/>
            <a:ext cx="1965960" cy="2926080"/>
          </a:xfrm>
          <a:prstGeom prst="roundRect">
            <a:avLst>
              <a:gd name="adj" fmla="val 6511"/>
            </a:avLst>
          </a:prstGeom>
          <a:solidFill>
            <a:srgbClr val="0B1428">
              <a:alpha val="78000"/>
            </a:srgbClr>
          </a:solidFill>
          <a:ln w="9525">
            <a:solidFill>
              <a:srgbClr val="1D3566">
                <a:alpha val="75000"/>
              </a:srgbClr>
            </a:solidFill>
          </a:ln>
          <a:effectLst>
            <a:glow rad="88900">
              <a:srgbClr val="8B7CFF">
                <a:alpha val="16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2715768" y="1371600"/>
            <a:ext cx="548640" cy="45720"/>
          </a:xfrm>
          <a:prstGeom prst="rect">
            <a:avLst/>
          </a:prstGeom>
          <a:solidFill>
            <a:srgbClr val="8B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ounded Rectangle 169"/>
          <p:cNvSpPr/>
          <p:nvPr/>
        </p:nvSpPr>
        <p:spPr>
          <a:xfrm>
            <a:off x="2807208" y="1572768"/>
            <a:ext cx="1417320" cy="1417320"/>
          </a:xfrm>
          <a:prstGeom prst="roundRect">
            <a:avLst>
              <a:gd name="adj" fmla="val 645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1" name="Picture 17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871216" y="1636776"/>
            <a:ext cx="1289304" cy="1289304"/>
          </a:xfrm>
          <a:prstGeom prst="rect">
            <a:avLst/>
          </a:prstGeom>
        </p:spPr>
      </p:pic>
      <p:sp>
        <p:nvSpPr>
          <p:cNvPr id="172" name="TextBox 171"/>
          <p:cNvSpPr txBox="1"/>
          <p:nvPr/>
        </p:nvSpPr>
        <p:spPr>
          <a:xfrm>
            <a:off x="2715768" y="3127248"/>
            <a:ext cx="1600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5F8FF"/>
                </a:solidFill>
                <a:latin typeface="Segoe UI Semibold"/>
              </a:rPr>
              <a:t>GitHub repository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2715768" y="3419856"/>
            <a:ext cx="1600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9DB0D4"/>
                </a:solidFill>
                <a:latin typeface="Segoe UI"/>
              </a:rPr>
              <a:t>github.com/OWAIS285/</a:t>
            </a:r>
          </a:p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9DB0D4"/>
                </a:solidFill>
                <a:latin typeface="Segoe UI"/>
              </a:rPr>
              <a:t>honey_trap</a:t>
            </a:r>
          </a:p>
        </p:txBody>
      </p:sp>
      <p:sp>
        <p:nvSpPr>
          <p:cNvPr id="174" name="Rounded Rectangle 173"/>
          <p:cNvSpPr/>
          <p:nvPr/>
        </p:nvSpPr>
        <p:spPr>
          <a:xfrm>
            <a:off x="4654296" y="1371600"/>
            <a:ext cx="1965960" cy="2926080"/>
          </a:xfrm>
          <a:prstGeom prst="roundRect">
            <a:avLst>
              <a:gd name="adj" fmla="val 6511"/>
            </a:avLst>
          </a:prstGeom>
          <a:solidFill>
            <a:srgbClr val="0B1428">
              <a:alpha val="78000"/>
            </a:srgbClr>
          </a:solidFill>
          <a:ln w="9525">
            <a:solidFill>
              <a:srgbClr val="1D3566">
                <a:alpha val="75000"/>
              </a:srgbClr>
            </a:solidFill>
          </a:ln>
          <a:effectLst>
            <a:glow rad="88900">
              <a:srgbClr val="37E0A0">
                <a:alpha val="16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4837176" y="1371600"/>
            <a:ext cx="548640" cy="45720"/>
          </a:xfrm>
          <a:prstGeom prst="rect">
            <a:avLst/>
          </a:prstGeom>
          <a:solidFill>
            <a:srgbClr val="37E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ounded Rectangle 175"/>
          <p:cNvSpPr/>
          <p:nvPr/>
        </p:nvSpPr>
        <p:spPr>
          <a:xfrm>
            <a:off x="4928616" y="1572768"/>
            <a:ext cx="1417320" cy="1417320"/>
          </a:xfrm>
          <a:prstGeom prst="roundRect">
            <a:avLst>
              <a:gd name="adj" fmla="val 645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7" name="Picture 17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92624" y="1636776"/>
            <a:ext cx="1289304" cy="1289304"/>
          </a:xfrm>
          <a:prstGeom prst="rect">
            <a:avLst/>
          </a:prstGeom>
        </p:spPr>
      </p:pic>
      <p:sp>
        <p:nvSpPr>
          <p:cNvPr id="178" name="TextBox 177"/>
          <p:cNvSpPr txBox="1"/>
          <p:nvPr/>
        </p:nvSpPr>
        <p:spPr>
          <a:xfrm>
            <a:off x="4837176" y="3127248"/>
            <a:ext cx="1600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5F8FF"/>
                </a:solidFill>
                <a:latin typeface="Segoe UI Semibold"/>
              </a:rPr>
              <a:t>Replay, no microphone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4837176" y="3419856"/>
            <a:ext cx="1600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9DB0D4"/>
                </a:solidFill>
                <a:latin typeface="Segoe UI"/>
              </a:rPr>
              <a:t>stallwart.web.app/#/replay</a:t>
            </a:r>
          </a:p>
        </p:txBody>
      </p:sp>
      <p:sp>
        <p:nvSpPr>
          <p:cNvPr id="180" name="Rounded Rectangle 179"/>
          <p:cNvSpPr/>
          <p:nvPr/>
        </p:nvSpPr>
        <p:spPr>
          <a:xfrm>
            <a:off x="6775703" y="1371600"/>
            <a:ext cx="1965960" cy="2926080"/>
          </a:xfrm>
          <a:prstGeom prst="roundRect">
            <a:avLst>
              <a:gd name="adj" fmla="val 6511"/>
            </a:avLst>
          </a:prstGeom>
          <a:solidFill>
            <a:srgbClr val="0B1428">
              <a:alpha val="78000"/>
            </a:srgbClr>
          </a:solidFill>
          <a:ln w="9525">
            <a:solidFill>
              <a:srgbClr val="1D3566">
                <a:alpha val="75000"/>
              </a:srgbClr>
            </a:solidFill>
          </a:ln>
          <a:effectLst>
            <a:glow rad="88900">
              <a:srgbClr val="FBBF24">
                <a:alpha val="16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6958583" y="1371600"/>
            <a:ext cx="548640" cy="4572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Oval 181"/>
          <p:cNvSpPr/>
          <p:nvPr/>
        </p:nvSpPr>
        <p:spPr>
          <a:xfrm>
            <a:off x="7232903" y="1783080"/>
            <a:ext cx="1051560" cy="1051560"/>
          </a:xfrm>
          <a:prstGeom prst="ellipse">
            <a:avLst/>
          </a:prstGeom>
          <a:solidFill>
            <a:srgbClr val="FBBF24">
              <a:alpha val="18000"/>
            </a:srgbClr>
          </a:solidFill>
          <a:ln w="1905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Isosceles Triangle 182"/>
          <p:cNvSpPr/>
          <p:nvPr/>
        </p:nvSpPr>
        <p:spPr>
          <a:xfrm rot="5400000">
            <a:off x="7598663" y="2103120"/>
            <a:ext cx="365760" cy="411480"/>
          </a:xfrm>
          <a:prstGeom prst="triangl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TextBox 183"/>
          <p:cNvSpPr txBox="1"/>
          <p:nvPr/>
        </p:nvSpPr>
        <p:spPr>
          <a:xfrm>
            <a:off x="6958583" y="3127248"/>
            <a:ext cx="1600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5F8FF"/>
                </a:solidFill>
                <a:latin typeface="Segoe UI Semibold"/>
              </a:rPr>
              <a:t>Demo video (3 min)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6958583" y="3419856"/>
            <a:ext cx="1600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9DB0D4"/>
                </a:solidFill>
                <a:latin typeface="Segoe UI"/>
              </a:rPr>
              <a:t>Link added here after upload</a:t>
            </a:r>
          </a:p>
        </p:txBody>
      </p:sp>
      <p:sp>
        <p:nvSpPr>
          <p:cNvPr id="186" name="Rounded Rectangle 185"/>
          <p:cNvSpPr/>
          <p:nvPr/>
        </p:nvSpPr>
        <p:spPr>
          <a:xfrm>
            <a:off x="411480" y="4480560"/>
            <a:ext cx="8321040" cy="384048"/>
          </a:xfrm>
          <a:prstGeom prst="roundRect">
            <a:avLst>
              <a:gd name="adj" fmla="val 47619"/>
            </a:avLst>
          </a:prstGeom>
          <a:solidFill>
            <a:srgbClr val="3B82F6">
              <a:alpha val="14000"/>
            </a:srgbClr>
          </a:solidFill>
          <a:ln w="9525">
            <a:solidFill>
              <a:srgbClr val="3B82F6">
                <a:alpha val="5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TextBox 186"/>
          <p:cNvSpPr txBox="1"/>
          <p:nvPr/>
        </p:nvSpPr>
        <p:spPr>
          <a:xfrm>
            <a:off x="548640" y="4480560"/>
            <a:ext cx="80467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38BDF8"/>
                </a:solidFill>
                <a:latin typeface="Segoe UI Semibold"/>
              </a:rPr>
              <a:t>No microphone? </a:t>
            </a:r>
            <a:r>
              <a:rPr sz="1000" b="0" i="0">
                <a:solidFill>
                  <a:srgbClr val="F5F8FF"/>
                </a:solidFill>
                <a:latin typeface="Segoe UI"/>
              </a:rPr>
              <a:t>Open the Replay in English or Hindi, or type to the decoy in text chat on the Live page.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28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8" title="Frame 14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44000" cy="51435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